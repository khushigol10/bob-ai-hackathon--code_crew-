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6" d="100"/>
          <a:sy n="86" d="100"/>
        </p:scale>
        <p:origin x="533"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t>9/14/2026</a:t>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Welcome. This is the L2 Supply Chain Disruption Assistant and Fleet Utilisation Optimizer — built by Team Code Crew for the IBM Bob AI Hackathon. The system uses IBM watsonx.ai with the Granite 3 8B Instruct model.</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The core problem: supply chain operations managers are caught flat-footed when disruptions occur. They lose 30-60 minutes manually correlating data that should be instantly available. Cold-chain cargo is the most dangerous category — a delayed vaccine shipment isn't just a financial loss, it's a patient safety incident.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Our solution maps the full disruption response pipeline: detect the event, analyse which shipments and cargo are impacted, compute projected risk escalation, recommend the optimal fleet asset, and surface an actionable answer — all in seconds rather than 30-60 minutes.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The key architectural decision: the backend computes all facts deterministically first. _gather_facts() runs regex intent detection on the question, calls the same logic as the REST endpoints, and serialises the results as JSON. That JSON is passed to Granite as context. The model can only state what the backend gave it. This eliminates hallucination risk entirely.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All six features are fully implemented and working. Feature 1-3 are visible on the dashboard. Features 4-5 are also exposed as REST API endpoints. Feature 6 is the Bob AI Assistant panel at the bottom of the dashboard.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Walk through this live: open the dashboard, click Run Simulation, then ask the assistant the same question. Show the structured facts panel expanding to reveal the JSON. Point out that every number matches — the AI didn't invent any of it. Then ask the fleet question to show TRUCK-017 being recommended.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Two IBM technologies used. IBM Bob: used throughout development as a coding and documentation assistant. IBM watsonx.ai: the Granite model receives structured JSON facts from the backend and narrates them in plain language. Critically, the fallback mode means the app works without credentials — the structured facts are always returned, so judges can see the data even without watsonx configured.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Close with the impact story: we turned a 30-60 minute manual process into a seconds-long interaction. The limitations are real and worth stating honestly — judges respect transparency. The thing we're proudest of is the grounded AI pattern: the backend is the source of truth, the AI is the narrator. That's a trustworthy, production-viable architecture.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p:cNvSpPr>
            <a:spLocks noGrp="1"/>
          </p:cNvSpPr>
          <p:nvPr>
            <p:ph type="ctrTitle"/>
          </p:nvPr>
        </p:nvSpPr>
        <p:spPr>
          <a:xfrm>
            <a:off x="685800" y="2130425"/>
            <a:ext cx="7772400" cy="1470025"/>
          </a:xfrm>
        </p:spPr>
        <p:txBody>
          <a:bodyPr/>
          <a:lstStyle/>
          <a:p>
            <a:endParaRPr lang="en-US"/>
          </a:p>
        </p:txBody>
      </p:sp>
      <p:sp>
        <p:nvSpPr>
          <p:cNvPr id="3" name="Subtitle"/>
          <p:cNvSpPr>
            <a:spLocks noGrp="1"/>
          </p:cNvSpPr>
          <p:nvPr>
            <p:ph type="subTitle" idx="1"/>
          </p:nvPr>
        </p:nvSpPr>
        <p:spPr>
          <a:xfrm>
            <a:off x="1371600" y="3886200"/>
            <a:ext cx="6400800" cy="1752600"/>
          </a:xfrm>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Tx">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
        <p:nvSpPr>
          <p:cNvPr id="3" name="Content"/>
          <p:cNvSpPr>
            <a:spLocks noGrp="1"/>
          </p:cNvSpPr>
          <p:nvPr>
            <p:ph type="body" idx="1"/>
          </p:nvPr>
        </p:nvSpPr>
        <p:spPr>
          <a:xfrm>
            <a:off x="838200" y="1825625"/>
            <a:ext cx="10515600" cy="4351338"/>
          </a:xfrm>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wo Content">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
        <p:nvSpPr>
          <p:cNvPr id="3" name="Content Left"/>
          <p:cNvSpPr>
            <a:spLocks noGrp="1"/>
          </p:cNvSpPr>
          <p:nvPr>
            <p:ph type="body" idx="1"/>
          </p:nvPr>
        </p:nvSpPr>
        <p:spPr>
          <a:xfrm>
            <a:off x="838200" y="1825625"/>
            <a:ext cx="5181600" cy="4351338"/>
          </a:xfrm>
        </p:spPr>
        <p:txBody>
          <a:bodyPr/>
          <a:lstStyle/>
          <a:p>
            <a:endParaRPr lang="en-US"/>
          </a:p>
        </p:txBody>
      </p:sp>
      <p:sp>
        <p:nvSpPr>
          <p:cNvPr id="4" name="Content Right"/>
          <p:cNvSpPr>
            <a:spLocks noGrp="1"/>
          </p:cNvSpPr>
          <p:nvPr>
            <p:ph type="body" idx="2"/>
          </p:nvPr>
        </p:nvSpPr>
        <p:spPr>
          <a:xfrm>
            <a:off x="6172200" y="1825625"/>
            <a:ext cx="5181600" cy="4351338"/>
          </a:xfrm>
        </p:spPr>
        <p:txBody>
          <a:body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100000" name="EyebrowBar"/>
          <p:cNvSpPr txBox="1"/>
          <p:nvPr/>
        </p:nvSpPr>
        <p:spPr>
          <a:xfrm>
            <a:off x="0" y="3060000"/>
            <a:ext cx="12193200" cy="28800"/>
          </a:xfrm>
          <a:prstGeom prst="rect">
            <a:avLst/>
          </a:prstGeom>
          <a:solidFill>
            <a:srgbClr val="3B7DD8"/>
          </a:solidFill>
        </p:spPr>
        <p:txBody>
          <a:bodyPr/>
          <a:lstStyle/>
          <a:p>
            <a:endParaRPr lang="en-US" sz="800">
              <a:solidFill>
                <a:srgbClr val="3B7DD8"/>
              </a:solidFill>
            </a:endParaRPr>
          </a:p>
        </p:txBody>
      </p:sp>
      <p:sp>
        <p:nvSpPr>
          <p:cNvPr id="100001" name="Title"/>
          <p:cNvSpPr txBox="1"/>
          <p:nvPr/>
        </p:nvSpPr>
        <p:spPr>
          <a:xfrm>
            <a:off x="720000" y="900000"/>
            <a:ext cx="10800000" cy="1800000"/>
          </a:xfrm>
          <a:prstGeom prst="rect">
            <a:avLst/>
          </a:prstGeom>
          <a:noFill/>
        </p:spPr>
        <p:txBody>
          <a:bodyPr/>
          <a:lstStyle/>
          <a:p>
            <a:r>
              <a:rPr lang="en-US" sz="4000" b="1">
                <a:solidFill>
                  <a:srgbClr val="FFFFFF"/>
                </a:solidFill>
                <a:latin typeface="Calibri"/>
                <a:ea typeface="Calibri"/>
              </a:rPr>
              <a:t>L2 Supply Chain Disruption Assistant</a:t>
            </a:r>
          </a:p>
          <a:p>
            <a:r>
              <a:rPr lang="en-US" sz="4000" b="1">
                <a:solidFill>
                  <a:srgbClr val="FFFFFF"/>
                </a:solidFill>
                <a:latin typeface="Calibri"/>
                <a:ea typeface="Calibri"/>
              </a:rPr>
              <a:t>&amp; Fleet Utilisation Optimizer</a:t>
            </a:r>
          </a:p>
        </p:txBody>
      </p:sp>
      <p:sp>
        <p:nvSpPr>
          <p:cNvPr id="100002" name="Subtitle"/>
          <p:cNvSpPr txBox="1"/>
          <p:nvPr/>
        </p:nvSpPr>
        <p:spPr>
          <a:xfrm>
            <a:off x="720000" y="3240000"/>
            <a:ext cx="10800000" cy="540000"/>
          </a:xfrm>
          <a:prstGeom prst="rect">
            <a:avLst/>
          </a:prstGeom>
          <a:noFill/>
        </p:spPr>
        <p:txBody>
          <a:bodyPr/>
          <a:lstStyle/>
          <a:p>
            <a:r>
              <a:rPr lang="en-US" sz="2000" b="0">
                <a:solidFill>
                  <a:srgbClr val="A8C4E8"/>
                </a:solidFill>
                <a:latin typeface="Calibri"/>
                <a:ea typeface="Calibri"/>
              </a:rPr>
              <a:t>IBM Bob AI Hackathon  ·  Team Code Crew  ·  Track: AI</a:t>
            </a:r>
          </a:p>
        </p:txBody>
      </p:sp>
      <p:sp>
        <p:nvSpPr>
          <p:cNvPr id="100003" name="TechLine"/>
          <p:cNvSpPr txBox="1"/>
          <p:nvPr/>
        </p:nvSpPr>
        <p:spPr>
          <a:xfrm>
            <a:off x="720000" y="3960000"/>
            <a:ext cx="10800000" cy="360000"/>
          </a:xfrm>
          <a:prstGeom prst="rect">
            <a:avLst/>
          </a:prstGeom>
          <a:noFill/>
        </p:spPr>
        <p:txBody>
          <a:bodyPr/>
          <a:lstStyle/>
          <a:p>
            <a:r>
              <a:rPr lang="en-US" sz="1400" b="0">
                <a:solidFill>
                  <a:srgbClr val="6A9FD4"/>
                </a:solidFill>
                <a:latin typeface="Calibri"/>
                <a:ea typeface="Calibri"/>
              </a:rPr>
              <a:t>Powered by IBM watsonx.ai  ·  ibm/granite-3-8b-instruct  ·  FastAPI  ·  React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04" name="TopBar"/>
          <p:cNvSpPr txBox="1"/>
          <p:nvPr/>
        </p:nvSpPr>
        <p:spPr>
          <a:xfrm>
            <a:off x="0" y="0"/>
            <a:ext cx="12193200" cy="432000"/>
          </a:xfrm>
          <a:prstGeom prst="rect">
            <a:avLst/>
          </a:prstGeom>
          <a:solidFill>
            <a:srgbClr val="1B2A4A"/>
          </a:solidFill>
        </p:spPr>
        <p:txBody>
          <a:bodyPr/>
          <a:lstStyle/>
          <a:p>
            <a:endParaRPr lang="en-US" sz="800">
              <a:solidFill>
                <a:srgbClr val="1B2A4A"/>
              </a:solidFill>
            </a:endParaRPr>
          </a:p>
        </p:txBody>
      </p:sp>
      <p:sp>
        <p:nvSpPr>
          <p:cNvPr id="100005" name="SlideLabel"/>
          <p:cNvSpPr txBox="1"/>
          <p:nvPr/>
        </p:nvSpPr>
        <p:spPr>
          <a:xfrm>
            <a:off x="540000" y="72000"/>
            <a:ext cx="7200000" cy="288000"/>
          </a:xfrm>
          <a:prstGeom prst="rect">
            <a:avLst/>
          </a:prstGeom>
          <a:noFill/>
        </p:spPr>
        <p:txBody>
          <a:bodyPr/>
          <a:lstStyle/>
          <a:p>
            <a:r>
              <a:rPr lang="en-US" sz="1300" b="1">
                <a:solidFill>
                  <a:srgbClr val="A8C4E8"/>
                </a:solidFill>
                <a:latin typeface="Calibri"/>
                <a:ea typeface="Calibri"/>
              </a:rPr>
              <a:t>02  ·  THE PROBLEM</a:t>
            </a:r>
          </a:p>
        </p:txBody>
      </p:sp>
      <p:sp>
        <p:nvSpPr>
          <p:cNvPr id="100006" name="Title"/>
          <p:cNvSpPr txBox="1"/>
          <p:nvPr/>
        </p:nvSpPr>
        <p:spPr>
          <a:xfrm>
            <a:off x="540000" y="540000"/>
            <a:ext cx="10800000" cy="720000"/>
          </a:xfrm>
          <a:prstGeom prst="rect">
            <a:avLst/>
          </a:prstGeom>
          <a:noFill/>
        </p:spPr>
        <p:txBody>
          <a:bodyPr/>
          <a:lstStyle/>
          <a:p>
            <a:r>
              <a:rPr lang="en-US" sz="3200" b="1">
                <a:solidFill>
                  <a:srgbClr val="1B2A4A"/>
                </a:solidFill>
                <a:latin typeface="Calibri"/>
                <a:ea typeface="Calibri"/>
              </a:rPr>
              <a:t>Supply Chains Break — Quietly, Then All At Once</a:t>
            </a:r>
          </a:p>
        </p:txBody>
      </p:sp>
      <p:sp>
        <p:nvSpPr>
          <p:cNvPr id="100007" name="ColLeft"/>
          <p:cNvSpPr txBox="1"/>
          <p:nvPr/>
        </p:nvSpPr>
        <p:spPr>
          <a:xfrm>
            <a:off x="540000" y="1368000"/>
            <a:ext cx="5040000" cy="4320000"/>
          </a:xfrm>
          <a:prstGeom prst="rect">
            <a:avLst/>
          </a:prstGeom>
          <a:solidFill>
            <a:srgbClr val="F4F7FB"/>
          </a:solidFill>
        </p:spPr>
        <p:txBody>
          <a:bodyPr/>
          <a:lstStyle/>
          <a:p>
            <a:r>
              <a:rPr lang="en-US" sz="1700" b="0">
                <a:solidFill>
                  <a:srgbClr val="333333"/>
                </a:solidFill>
                <a:latin typeface="Calibri"/>
                <a:ea typeface="Calibri"/>
              </a:rPr>
              <a:t>The situation today</a:t>
            </a:r>
          </a:p>
          <a:p>
            <a:endParaRPr lang="en-US" sz="1700" b="0">
              <a:solidFill>
                <a:srgbClr val="333333"/>
              </a:solidFill>
              <a:latin typeface="Calibri"/>
              <a:ea typeface="Calibri"/>
            </a:endParaRPr>
          </a:p>
          <a:p>
            <a:r>
              <a:rPr lang="en-US" sz="1700" b="0">
                <a:solidFill>
                  <a:srgbClr val="333333"/>
                </a:solidFill>
                <a:latin typeface="Calibri"/>
                <a:ea typeface="Calibri"/>
              </a:rPr>
              <a:t>• Port strikes, severe weather, and logistics failures cascade faster than any team can react manually</a:t>
            </a:r>
          </a:p>
          <a:p>
            <a:endParaRPr lang="en-US" sz="1700" b="0">
              <a:solidFill>
                <a:srgbClr val="333333"/>
              </a:solidFill>
              <a:latin typeface="Calibri"/>
              <a:ea typeface="Calibri"/>
            </a:endParaRPr>
          </a:p>
          <a:p>
            <a:r>
              <a:rPr lang="en-US" sz="1700" b="0">
                <a:solidFill>
                  <a:srgbClr val="333333"/>
                </a:solidFill>
                <a:latin typeface="Calibri"/>
                <a:ea typeface="Calibri"/>
              </a:rPr>
              <a:t>• Operations managers must cross-reference shipment lists, cold-chain alerts, and fleet availability across disconnected systems</a:t>
            </a:r>
          </a:p>
          <a:p>
            <a:endParaRPr lang="en-US" sz="1700" b="0">
              <a:solidFill>
                <a:srgbClr val="333333"/>
              </a:solidFill>
              <a:latin typeface="Calibri"/>
              <a:ea typeface="Calibri"/>
            </a:endParaRPr>
          </a:p>
          <a:p>
            <a:r>
              <a:rPr lang="en-US" sz="1700" b="0">
                <a:solidFill>
                  <a:srgbClr val="333333"/>
                </a:solidFill>
                <a:latin typeface="Calibri"/>
                <a:ea typeface="Calibri"/>
              </a:rPr>
              <a:t>• A single disruption incident consumes 30–60 minutes of diagnosis time before any action is taken</a:t>
            </a:r>
          </a:p>
        </p:txBody>
      </p:sp>
      <p:sp>
        <p:nvSpPr>
          <p:cNvPr id="100008" name="ColRight"/>
          <p:cNvSpPr txBox="1"/>
          <p:nvPr/>
        </p:nvSpPr>
        <p:spPr>
          <a:xfrm>
            <a:off x="6120000" y="1368000"/>
            <a:ext cx="5580000" cy="4320000"/>
          </a:xfrm>
          <a:prstGeom prst="rect">
            <a:avLst/>
          </a:prstGeom>
          <a:solidFill>
            <a:srgbClr val="FFF4F4"/>
          </a:solidFill>
        </p:spPr>
        <p:txBody>
          <a:bodyPr/>
          <a:lstStyle/>
          <a:p>
            <a:r>
              <a:rPr lang="en-US" sz="1700" b="0">
                <a:solidFill>
                  <a:srgbClr val="333333"/>
                </a:solidFill>
                <a:latin typeface="Calibri"/>
                <a:ea typeface="Calibri"/>
              </a:rPr>
              <a:t>The highest-stakes risk</a:t>
            </a:r>
          </a:p>
          <a:p>
            <a:endParaRPr lang="en-US" sz="1700" b="0">
              <a:solidFill>
                <a:srgbClr val="333333"/>
              </a:solidFill>
              <a:latin typeface="Calibri"/>
              <a:ea typeface="Calibri"/>
            </a:endParaRPr>
          </a:p>
          <a:p>
            <a:r>
              <a:rPr lang="en-US" sz="1700" b="0">
                <a:solidFill>
                  <a:srgbClr val="333333"/>
                </a:solidFill>
                <a:latin typeface="Calibri"/>
                <a:ea typeface="Calibri"/>
              </a:rPr>
              <a:t>❄️ Cold-chain cargo — vaccines and perishable food — is the most exposed</a:t>
            </a:r>
          </a:p>
          <a:p>
            <a:endParaRPr lang="en-US" sz="1700" b="0">
              <a:solidFill>
                <a:srgbClr val="333333"/>
              </a:solidFill>
              <a:latin typeface="Calibri"/>
              <a:ea typeface="Calibri"/>
            </a:endParaRPr>
          </a:p>
          <a:p>
            <a:r>
              <a:rPr lang="en-US" sz="1700" b="0">
                <a:solidFill>
                  <a:srgbClr val="333333"/>
                </a:solidFill>
                <a:latin typeface="Calibri"/>
                <a:ea typeface="Calibri"/>
              </a:rPr>
              <a:t>• Vaccines must stay between 2 °C and 8 °C</a:t>
            </a:r>
          </a:p>
          <a:p>
            <a:r>
              <a:rPr lang="en-US" sz="1700" b="0">
                <a:solidFill>
                  <a:srgbClr val="333333"/>
                </a:solidFill>
                <a:latin typeface="Calibri"/>
                <a:ea typeface="Calibri"/>
              </a:rPr>
              <a:t>• Every hour of uncertainty is a financial and safety risk</a:t>
            </a:r>
          </a:p>
          <a:p>
            <a:r>
              <a:rPr lang="en-US" sz="1700" b="0">
                <a:solidFill>
                  <a:srgbClr val="333333"/>
                </a:solidFill>
                <a:latin typeface="Calibri"/>
                <a:ea typeface="Calibri"/>
              </a:rPr>
              <a:t>• A single delayed cold-chain shipment can represent $500,000+ in cargo value</a:t>
            </a:r>
          </a:p>
          <a:p>
            <a:r>
              <a:rPr lang="en-US" sz="1700" b="0">
                <a:solidFill>
                  <a:srgbClr val="333333"/>
                </a:solidFill>
                <a:latin typeface="Calibri"/>
                <a:ea typeface="Calibri"/>
              </a:rPr>
              <a:t>• Spoiled vaccines cannot be used — patient safety is at stake</a:t>
            </a:r>
          </a:p>
        </p:txBody>
      </p:sp>
      <p:sp>
        <p:nvSpPr>
          <p:cNvPr id="100009" name="BottomBar"/>
          <p:cNvSpPr txBox="1"/>
          <p:nvPr/>
        </p:nvSpPr>
        <p:spPr>
          <a:xfrm>
            <a:off x="0" y="6768000"/>
            <a:ext cx="12193200" cy="72000"/>
          </a:xfrm>
          <a:prstGeom prst="rect">
            <a:avLst/>
          </a:prstGeom>
          <a:solidFill>
            <a:srgbClr val="3B7DD8"/>
          </a:solidFill>
        </p:spPr>
        <p:txBody>
          <a:bodyPr/>
          <a:lstStyle/>
          <a:p>
            <a:endParaRPr lang="en-US" sz="800">
              <a:solidFill>
                <a:srgbClr val="3B7DD8"/>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10" name="TopBar"/>
          <p:cNvSpPr txBox="1"/>
          <p:nvPr/>
        </p:nvSpPr>
        <p:spPr>
          <a:xfrm>
            <a:off x="0" y="0"/>
            <a:ext cx="12193200" cy="432000"/>
          </a:xfrm>
          <a:prstGeom prst="rect">
            <a:avLst/>
          </a:prstGeom>
          <a:solidFill>
            <a:srgbClr val="1B2A4A"/>
          </a:solidFill>
        </p:spPr>
        <p:txBody>
          <a:bodyPr/>
          <a:lstStyle/>
          <a:p>
            <a:endParaRPr lang="en-US" sz="800">
              <a:solidFill>
                <a:srgbClr val="1B2A4A"/>
              </a:solidFill>
            </a:endParaRPr>
          </a:p>
        </p:txBody>
      </p:sp>
      <p:sp>
        <p:nvSpPr>
          <p:cNvPr id="100011" name="SlideLabel"/>
          <p:cNvSpPr txBox="1"/>
          <p:nvPr/>
        </p:nvSpPr>
        <p:spPr>
          <a:xfrm>
            <a:off x="540000" y="72000"/>
            <a:ext cx="7200000" cy="288000"/>
          </a:xfrm>
          <a:prstGeom prst="rect">
            <a:avLst/>
          </a:prstGeom>
          <a:noFill/>
        </p:spPr>
        <p:txBody>
          <a:bodyPr/>
          <a:lstStyle/>
          <a:p>
            <a:r>
              <a:rPr lang="en-US" sz="1300" b="1">
                <a:solidFill>
                  <a:srgbClr val="A8C4E8"/>
                </a:solidFill>
                <a:latin typeface="Calibri"/>
                <a:ea typeface="Calibri"/>
              </a:rPr>
              <a:t>03  ·  OUR SOLUTION</a:t>
            </a:r>
          </a:p>
        </p:txBody>
      </p:sp>
      <p:sp>
        <p:nvSpPr>
          <p:cNvPr id="100012" name="Title"/>
          <p:cNvSpPr txBox="1"/>
          <p:nvPr/>
        </p:nvSpPr>
        <p:spPr>
          <a:xfrm>
            <a:off x="540000" y="540000"/>
            <a:ext cx="10800000" cy="720000"/>
          </a:xfrm>
          <a:prstGeom prst="rect">
            <a:avLst/>
          </a:prstGeom>
          <a:noFill/>
        </p:spPr>
        <p:txBody>
          <a:bodyPr/>
          <a:lstStyle/>
          <a:p>
            <a:r>
              <a:rPr lang="en-US" sz="3200" b="1">
                <a:solidFill>
                  <a:srgbClr val="1B2A4A"/>
                </a:solidFill>
                <a:latin typeface="Calibri"/>
                <a:ea typeface="Calibri"/>
              </a:rPr>
              <a:t>A Control Tower That Thinks — and Acts</a:t>
            </a:r>
          </a:p>
        </p:txBody>
      </p:sp>
      <p:sp>
        <p:nvSpPr>
          <p:cNvPr id="100013" name="Step1"/>
          <p:cNvSpPr txBox="1"/>
          <p:nvPr/>
        </p:nvSpPr>
        <p:spPr>
          <a:xfrm>
            <a:off x="432000" y="1440000"/>
            <a:ext cx="1980000" cy="3240000"/>
          </a:xfrm>
          <a:prstGeom prst="rect">
            <a:avLst/>
          </a:prstGeom>
          <a:solidFill>
            <a:srgbClr val="C0392B"/>
          </a:solidFill>
        </p:spPr>
        <p:txBody>
          <a:bodyPr/>
          <a:lstStyle/>
          <a:p>
            <a:r>
              <a:rPr lang="en-US" sz="1500" b="0">
                <a:solidFill>
                  <a:srgbClr val="FFFFFF"/>
                </a:solidFill>
                <a:latin typeface="Calibri"/>
                <a:ea typeface="Calibri"/>
              </a:rPr>
              <a:t>DISRUPTION</a:t>
            </a:r>
          </a:p>
          <a:p>
            <a:r>
              <a:rPr lang="en-US" sz="1500" b="0">
                <a:solidFill>
                  <a:srgbClr val="FFFFFF"/>
                </a:solidFill>
                <a:latin typeface="Calibri"/>
                <a:ea typeface="Calibri"/>
              </a:rPr>
              <a:t>Detected</a:t>
            </a:r>
          </a:p>
          <a:p>
            <a:endParaRPr lang="en-US" sz="1500" b="0">
              <a:solidFill>
                <a:srgbClr val="FFFFFF"/>
              </a:solidFill>
              <a:latin typeface="Calibri"/>
              <a:ea typeface="Calibri"/>
            </a:endParaRPr>
          </a:p>
          <a:p>
            <a:r>
              <a:rPr lang="en-US" sz="1500" b="0">
                <a:solidFill>
                  <a:srgbClr val="FFFFFF"/>
                </a:solidFill>
                <a:latin typeface="Calibri"/>
                <a:ea typeface="Calibri"/>
              </a:rPr>
              <a:t>Port Strike</a:t>
            </a:r>
          </a:p>
          <a:p>
            <a:r>
              <a:rPr lang="en-US" sz="1500" b="0">
                <a:solidFill>
                  <a:srgbClr val="FFFFFF"/>
                </a:solidFill>
                <a:latin typeface="Calibri"/>
                <a:ea typeface="Calibri"/>
              </a:rPr>
              <a:t>Severe Weather</a:t>
            </a:r>
          </a:p>
          <a:p>
            <a:r>
              <a:rPr lang="en-US" sz="1500" b="0">
                <a:solidFill>
                  <a:srgbClr val="FFFFFF"/>
                </a:solidFill>
                <a:latin typeface="Calibri"/>
                <a:ea typeface="Calibri"/>
              </a:rPr>
              <a:t>Vessel Delay</a:t>
            </a:r>
          </a:p>
        </p:txBody>
      </p:sp>
      <p:sp>
        <p:nvSpPr>
          <p:cNvPr id="100014" name="Arrow1"/>
          <p:cNvSpPr txBox="1"/>
          <p:nvPr/>
        </p:nvSpPr>
        <p:spPr>
          <a:xfrm>
            <a:off x="2484000" y="2700000"/>
            <a:ext cx="360000" cy="540000"/>
          </a:xfrm>
          <a:prstGeom prst="rect">
            <a:avLst/>
          </a:prstGeom>
          <a:noFill/>
        </p:spPr>
        <p:txBody>
          <a:bodyPr/>
          <a:lstStyle/>
          <a:p>
            <a:r>
              <a:rPr lang="en-US" sz="2800" b="1">
                <a:solidFill>
                  <a:srgbClr val="1B2A4A"/>
                </a:solidFill>
                <a:latin typeface="Calibri"/>
                <a:ea typeface="Calibri"/>
              </a:rPr>
              <a:t>→</a:t>
            </a:r>
          </a:p>
        </p:txBody>
      </p:sp>
      <p:sp>
        <p:nvSpPr>
          <p:cNvPr id="100015" name="Step2"/>
          <p:cNvSpPr txBox="1"/>
          <p:nvPr/>
        </p:nvSpPr>
        <p:spPr>
          <a:xfrm>
            <a:off x="2916000" y="1440000"/>
            <a:ext cx="1980000" cy="3240000"/>
          </a:xfrm>
          <a:prstGeom prst="rect">
            <a:avLst/>
          </a:prstGeom>
          <a:solidFill>
            <a:srgbClr val="E67E22"/>
          </a:solidFill>
        </p:spPr>
        <p:txBody>
          <a:bodyPr/>
          <a:lstStyle/>
          <a:p>
            <a:r>
              <a:rPr lang="en-US" sz="1500" b="0">
                <a:solidFill>
                  <a:srgbClr val="FFFFFF"/>
                </a:solidFill>
                <a:latin typeface="Calibri"/>
                <a:ea typeface="Calibri"/>
              </a:rPr>
              <a:t>IMPACT</a:t>
            </a:r>
          </a:p>
          <a:p>
            <a:r>
              <a:rPr lang="en-US" sz="1500" b="0">
                <a:solidFill>
                  <a:srgbClr val="FFFFFF"/>
                </a:solidFill>
                <a:latin typeface="Calibri"/>
                <a:ea typeface="Calibri"/>
              </a:rPr>
              <a:t>Analysed</a:t>
            </a:r>
          </a:p>
          <a:p>
            <a:endParaRPr lang="en-US" sz="1500" b="0">
              <a:solidFill>
                <a:srgbClr val="FFFFFF"/>
              </a:solidFill>
              <a:latin typeface="Calibri"/>
              <a:ea typeface="Calibri"/>
            </a:endParaRPr>
          </a:p>
          <a:p>
            <a:r>
              <a:rPr lang="en-US" sz="1500" b="0">
                <a:solidFill>
                  <a:srgbClr val="FFFFFF"/>
                </a:solidFill>
                <a:latin typeface="Calibri"/>
                <a:ea typeface="Calibri"/>
              </a:rPr>
              <a:t>Which shipments?</a:t>
            </a:r>
          </a:p>
          <a:p>
            <a:r>
              <a:rPr lang="en-US" sz="1500" b="0">
                <a:solidFill>
                  <a:srgbClr val="FFFFFF"/>
                </a:solidFill>
                <a:latin typeface="Calibri"/>
                <a:ea typeface="Calibri"/>
              </a:rPr>
              <a:t>Cold-chain exposure?</a:t>
            </a:r>
          </a:p>
          <a:p>
            <a:r>
              <a:rPr lang="en-US" sz="1500" b="0">
                <a:solidFill>
                  <a:srgbClr val="FFFFFF"/>
                </a:solidFill>
                <a:latin typeface="Calibri"/>
                <a:ea typeface="Calibri"/>
              </a:rPr>
              <a:t>Cargo value at risk?</a:t>
            </a:r>
          </a:p>
        </p:txBody>
      </p:sp>
      <p:sp>
        <p:nvSpPr>
          <p:cNvPr id="100016" name="Arrow2"/>
          <p:cNvSpPr txBox="1"/>
          <p:nvPr/>
        </p:nvSpPr>
        <p:spPr>
          <a:xfrm>
            <a:off x="4968000" y="2700000"/>
            <a:ext cx="360000" cy="540000"/>
          </a:xfrm>
          <a:prstGeom prst="rect">
            <a:avLst/>
          </a:prstGeom>
          <a:noFill/>
        </p:spPr>
        <p:txBody>
          <a:bodyPr/>
          <a:lstStyle/>
          <a:p>
            <a:r>
              <a:rPr lang="en-US" sz="2800" b="1">
                <a:solidFill>
                  <a:srgbClr val="1B2A4A"/>
                </a:solidFill>
                <a:latin typeface="Calibri"/>
                <a:ea typeface="Calibri"/>
              </a:rPr>
              <a:t>→</a:t>
            </a:r>
          </a:p>
        </p:txBody>
      </p:sp>
      <p:sp>
        <p:nvSpPr>
          <p:cNvPr id="100017" name="Step3"/>
          <p:cNvSpPr txBox="1"/>
          <p:nvPr/>
        </p:nvSpPr>
        <p:spPr>
          <a:xfrm>
            <a:off x="5400000" y="1440000"/>
            <a:ext cx="1980000" cy="3240000"/>
          </a:xfrm>
          <a:prstGeom prst="rect">
            <a:avLst/>
          </a:prstGeom>
          <a:solidFill>
            <a:srgbClr val="D35400"/>
          </a:solidFill>
        </p:spPr>
        <p:txBody>
          <a:bodyPr/>
          <a:lstStyle/>
          <a:p>
            <a:r>
              <a:rPr lang="en-US" sz="1500" b="0">
                <a:solidFill>
                  <a:srgbClr val="FFFFFF"/>
                </a:solidFill>
                <a:latin typeface="Calibri"/>
                <a:ea typeface="Calibri"/>
              </a:rPr>
              <a:t>RISK</a:t>
            </a:r>
          </a:p>
          <a:p>
            <a:r>
              <a:rPr lang="en-US" sz="1500" b="0">
                <a:solidFill>
                  <a:srgbClr val="FFFFFF"/>
                </a:solidFill>
                <a:latin typeface="Calibri"/>
                <a:ea typeface="Calibri"/>
              </a:rPr>
              <a:t>Escalation</a:t>
            </a:r>
          </a:p>
          <a:p>
            <a:endParaRPr lang="en-US" sz="1500" b="0">
              <a:solidFill>
                <a:srgbClr val="FFFFFF"/>
              </a:solidFill>
              <a:latin typeface="Calibri"/>
              <a:ea typeface="Calibri"/>
            </a:endParaRPr>
          </a:p>
          <a:p>
            <a:r>
              <a:rPr lang="en-US" sz="1500" b="0">
                <a:solidFill>
                  <a:srgbClr val="FFFFFF"/>
                </a:solidFill>
                <a:latin typeface="Calibri"/>
                <a:ea typeface="Calibri"/>
              </a:rPr>
              <a:t>Critical / High</a:t>
            </a:r>
          </a:p>
          <a:p>
            <a:r>
              <a:rPr lang="en-US" sz="1500" b="0">
                <a:solidFill>
                  <a:srgbClr val="FFFFFF"/>
                </a:solidFill>
                <a:latin typeface="Calibri"/>
                <a:ea typeface="Calibri"/>
              </a:rPr>
              <a:t>/ Medium</a:t>
            </a:r>
          </a:p>
          <a:p>
            <a:r>
              <a:rPr lang="en-US" sz="1500" b="0">
                <a:solidFill>
                  <a:srgbClr val="FFFFFF"/>
                </a:solidFill>
                <a:latin typeface="Calibri"/>
                <a:ea typeface="Calibri"/>
              </a:rPr>
              <a:t>Projected risk</a:t>
            </a:r>
          </a:p>
        </p:txBody>
      </p:sp>
      <p:sp>
        <p:nvSpPr>
          <p:cNvPr id="100018" name="Arrow3"/>
          <p:cNvSpPr txBox="1"/>
          <p:nvPr/>
        </p:nvSpPr>
        <p:spPr>
          <a:xfrm>
            <a:off x="7452000" y="2700000"/>
            <a:ext cx="360000" cy="540000"/>
          </a:xfrm>
          <a:prstGeom prst="rect">
            <a:avLst/>
          </a:prstGeom>
          <a:noFill/>
        </p:spPr>
        <p:txBody>
          <a:bodyPr/>
          <a:lstStyle/>
          <a:p>
            <a:r>
              <a:rPr lang="en-US" sz="2800" b="1">
                <a:solidFill>
                  <a:srgbClr val="1B2A4A"/>
                </a:solidFill>
                <a:latin typeface="Calibri"/>
                <a:ea typeface="Calibri"/>
              </a:rPr>
              <a:t>→</a:t>
            </a:r>
          </a:p>
        </p:txBody>
      </p:sp>
      <p:sp>
        <p:nvSpPr>
          <p:cNvPr id="100019" name="Step4"/>
          <p:cNvSpPr txBox="1"/>
          <p:nvPr/>
        </p:nvSpPr>
        <p:spPr>
          <a:xfrm>
            <a:off x="7884000" y="1440000"/>
            <a:ext cx="1980000" cy="3240000"/>
          </a:xfrm>
          <a:prstGeom prst="rect">
            <a:avLst/>
          </a:prstGeom>
          <a:solidFill>
            <a:srgbClr val="1A7BC4"/>
          </a:solidFill>
        </p:spPr>
        <p:txBody>
          <a:bodyPr/>
          <a:lstStyle/>
          <a:p>
            <a:r>
              <a:rPr lang="en-US" sz="1500" b="0">
                <a:solidFill>
                  <a:srgbClr val="FFFFFF"/>
                </a:solidFill>
                <a:latin typeface="Calibri"/>
                <a:ea typeface="Calibri"/>
              </a:rPr>
              <a:t>OPTIMISATION</a:t>
            </a:r>
          </a:p>
          <a:p>
            <a:r>
              <a:rPr lang="en-US" sz="1500" b="0">
                <a:solidFill>
                  <a:srgbClr val="FFFFFF"/>
                </a:solidFill>
                <a:latin typeface="Calibri"/>
                <a:ea typeface="Calibri"/>
              </a:rPr>
              <a:t>Fleet</a:t>
            </a:r>
          </a:p>
          <a:p>
            <a:endParaRPr lang="en-US" sz="1500" b="0">
              <a:solidFill>
                <a:srgbClr val="FFFFFF"/>
              </a:solidFill>
              <a:latin typeface="Calibri"/>
              <a:ea typeface="Calibri"/>
            </a:endParaRPr>
          </a:p>
          <a:p>
            <a:r>
              <a:rPr lang="en-US" sz="1500" b="0">
                <a:solidFill>
                  <a:srgbClr val="FFFFFF"/>
                </a:solidFill>
                <a:latin typeface="Calibri"/>
                <a:ea typeface="Calibri"/>
              </a:rPr>
              <a:t>Best asset</a:t>
            </a:r>
          </a:p>
          <a:p>
            <a:r>
              <a:rPr lang="en-US" sz="1500" b="0">
                <a:solidFill>
                  <a:srgbClr val="FFFFFF"/>
                </a:solidFill>
                <a:latin typeface="Calibri"/>
                <a:ea typeface="Calibri"/>
              </a:rPr>
              <a:t>by proximity</a:t>
            </a:r>
          </a:p>
          <a:p>
            <a:r>
              <a:rPr lang="en-US" sz="1500" b="0">
                <a:solidFill>
                  <a:srgbClr val="FFFFFF"/>
                </a:solidFill>
                <a:latin typeface="Calibri"/>
                <a:ea typeface="Calibri"/>
              </a:rPr>
              <a:t>&amp; utilisation</a:t>
            </a:r>
          </a:p>
        </p:txBody>
      </p:sp>
      <p:sp>
        <p:nvSpPr>
          <p:cNvPr id="100020" name="Arrow4"/>
          <p:cNvSpPr txBox="1"/>
          <p:nvPr/>
        </p:nvSpPr>
        <p:spPr>
          <a:xfrm>
            <a:off x="9936000" y="2700000"/>
            <a:ext cx="360000" cy="540000"/>
          </a:xfrm>
          <a:prstGeom prst="rect">
            <a:avLst/>
          </a:prstGeom>
          <a:noFill/>
        </p:spPr>
        <p:txBody>
          <a:bodyPr/>
          <a:lstStyle/>
          <a:p>
            <a:r>
              <a:rPr lang="en-US" sz="2800" b="1">
                <a:solidFill>
                  <a:srgbClr val="1B2A4A"/>
                </a:solidFill>
                <a:latin typeface="Calibri"/>
                <a:ea typeface="Calibri"/>
              </a:rPr>
              <a:t>→</a:t>
            </a:r>
          </a:p>
        </p:txBody>
      </p:sp>
      <p:sp>
        <p:nvSpPr>
          <p:cNvPr id="100021" name="Step5"/>
          <p:cNvSpPr txBox="1"/>
          <p:nvPr/>
        </p:nvSpPr>
        <p:spPr>
          <a:xfrm>
            <a:off x="10368000" y="1440000"/>
            <a:ext cx="1692000" cy="3240000"/>
          </a:xfrm>
          <a:prstGeom prst="rect">
            <a:avLst/>
          </a:prstGeom>
          <a:solidFill>
            <a:srgbClr val="1B7A4A"/>
          </a:solidFill>
        </p:spPr>
        <p:txBody>
          <a:bodyPr/>
          <a:lstStyle/>
          <a:p>
            <a:r>
              <a:rPr lang="en-US" sz="1500" b="0">
                <a:solidFill>
                  <a:srgbClr val="FFFFFF"/>
                </a:solidFill>
                <a:latin typeface="Calibri"/>
                <a:ea typeface="Calibri"/>
              </a:rPr>
              <a:t>ACTION</a:t>
            </a:r>
          </a:p>
          <a:p>
            <a:r>
              <a:rPr lang="en-US" sz="1500" b="0">
                <a:solidFill>
                  <a:srgbClr val="FFFFFF"/>
                </a:solidFill>
                <a:latin typeface="Calibri"/>
                <a:ea typeface="Calibri"/>
              </a:rPr>
              <a:t>Recommended</a:t>
            </a:r>
          </a:p>
          <a:p>
            <a:endParaRPr lang="en-US" sz="1500" b="0">
              <a:solidFill>
                <a:srgbClr val="FFFFFF"/>
              </a:solidFill>
              <a:latin typeface="Calibri"/>
              <a:ea typeface="Calibri"/>
            </a:endParaRPr>
          </a:p>
          <a:p>
            <a:r>
              <a:rPr lang="en-US" sz="1500" b="0">
                <a:solidFill>
                  <a:srgbClr val="FFFFFF"/>
                </a:solidFill>
                <a:latin typeface="Calibri"/>
                <a:ea typeface="Calibri"/>
              </a:rPr>
              <a:t>AI-grounded</a:t>
            </a:r>
          </a:p>
          <a:p>
            <a:r>
              <a:rPr lang="en-US" sz="1500" b="0">
                <a:solidFill>
                  <a:srgbClr val="FFFFFF"/>
                </a:solidFill>
                <a:latin typeface="Calibri"/>
                <a:ea typeface="Calibri"/>
              </a:rPr>
              <a:t>answer in</a:t>
            </a:r>
          </a:p>
          <a:p>
            <a:r>
              <a:rPr lang="en-US" sz="1500" b="0">
                <a:solidFill>
                  <a:srgbClr val="FFFFFF"/>
                </a:solidFill>
                <a:latin typeface="Calibri"/>
                <a:ea typeface="Calibri"/>
              </a:rPr>
              <a:t>seconds</a:t>
            </a:r>
          </a:p>
        </p:txBody>
      </p:sp>
      <p:sp>
        <p:nvSpPr>
          <p:cNvPr id="100022" name="BottomBar"/>
          <p:cNvSpPr txBox="1"/>
          <p:nvPr/>
        </p:nvSpPr>
        <p:spPr>
          <a:xfrm>
            <a:off x="0" y="6768000"/>
            <a:ext cx="12193200" cy="72000"/>
          </a:xfrm>
          <a:prstGeom prst="rect">
            <a:avLst/>
          </a:prstGeom>
          <a:solidFill>
            <a:srgbClr val="3B7DD8"/>
          </a:solidFill>
        </p:spPr>
        <p:txBody>
          <a:bodyPr/>
          <a:lstStyle/>
          <a:p>
            <a:endParaRPr lang="en-US" sz="800">
              <a:solidFill>
                <a:srgbClr val="3B7DD8"/>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23" name="TopBar"/>
          <p:cNvSpPr txBox="1"/>
          <p:nvPr/>
        </p:nvSpPr>
        <p:spPr>
          <a:xfrm>
            <a:off x="0" y="0"/>
            <a:ext cx="12193200" cy="432000"/>
          </a:xfrm>
          <a:prstGeom prst="rect">
            <a:avLst/>
          </a:prstGeom>
          <a:solidFill>
            <a:srgbClr val="1B2A4A"/>
          </a:solidFill>
        </p:spPr>
        <p:txBody>
          <a:bodyPr/>
          <a:lstStyle/>
          <a:p>
            <a:endParaRPr lang="en-US" sz="800">
              <a:solidFill>
                <a:srgbClr val="1B2A4A"/>
              </a:solidFill>
            </a:endParaRPr>
          </a:p>
        </p:txBody>
      </p:sp>
      <p:sp>
        <p:nvSpPr>
          <p:cNvPr id="100024" name="SlideLabel"/>
          <p:cNvSpPr txBox="1"/>
          <p:nvPr/>
        </p:nvSpPr>
        <p:spPr>
          <a:xfrm>
            <a:off x="540000" y="72000"/>
            <a:ext cx="7200000" cy="288000"/>
          </a:xfrm>
          <a:prstGeom prst="rect">
            <a:avLst/>
          </a:prstGeom>
          <a:noFill/>
        </p:spPr>
        <p:txBody>
          <a:bodyPr/>
          <a:lstStyle/>
          <a:p>
            <a:r>
              <a:rPr lang="en-US" sz="1300" b="1">
                <a:solidFill>
                  <a:srgbClr val="A8C4E8"/>
                </a:solidFill>
                <a:latin typeface="Calibri"/>
                <a:ea typeface="Calibri"/>
              </a:rPr>
              <a:t>04  ·  HOW IT WORKS</a:t>
            </a:r>
          </a:p>
        </p:txBody>
      </p:sp>
      <p:sp>
        <p:nvSpPr>
          <p:cNvPr id="100025" name="Title"/>
          <p:cNvSpPr txBox="1"/>
          <p:nvPr/>
        </p:nvSpPr>
        <p:spPr>
          <a:xfrm>
            <a:off x="540000" y="540000"/>
            <a:ext cx="10800000" cy="720000"/>
          </a:xfrm>
          <a:prstGeom prst="rect">
            <a:avLst/>
          </a:prstGeom>
          <a:noFill/>
        </p:spPr>
        <p:txBody>
          <a:bodyPr/>
          <a:lstStyle/>
          <a:p>
            <a:r>
              <a:rPr lang="en-US" sz="3200" b="1">
                <a:solidFill>
                  <a:srgbClr val="1B2A4A"/>
                </a:solidFill>
                <a:latin typeface="Calibri"/>
                <a:ea typeface="Calibri"/>
              </a:rPr>
              <a:t>Deterministic Core + AI Narration</a:t>
            </a:r>
          </a:p>
        </p:txBody>
      </p:sp>
      <p:sp>
        <p:nvSpPr>
          <p:cNvPr id="100026" name="LayerFront"/>
          <p:cNvSpPr txBox="1"/>
          <p:nvPr/>
        </p:nvSpPr>
        <p:spPr>
          <a:xfrm>
            <a:off x="432000" y="1440000"/>
            <a:ext cx="2700000" cy="3600000"/>
          </a:xfrm>
          <a:prstGeom prst="rect">
            <a:avLst/>
          </a:prstGeom>
          <a:solidFill>
            <a:srgbClr val="EAF2FB"/>
          </a:solidFill>
        </p:spPr>
        <p:txBody>
          <a:bodyPr/>
          <a:lstStyle/>
          <a:p>
            <a:r>
              <a:rPr lang="en-US" sz="1600" b="0">
                <a:solidFill>
                  <a:srgbClr val="1B2A4A"/>
                </a:solidFill>
                <a:latin typeface="Calibri"/>
                <a:ea typeface="Calibri"/>
              </a:rPr>
              <a:t>React Dashboard</a:t>
            </a:r>
          </a:p>
          <a:p>
            <a:endParaRPr lang="en-US" sz="1600" b="0">
              <a:solidFill>
                <a:srgbClr val="1B2A4A"/>
              </a:solidFill>
              <a:latin typeface="Calibri"/>
              <a:ea typeface="Calibri"/>
            </a:endParaRPr>
          </a:p>
          <a:p>
            <a:r>
              <a:rPr lang="en-US" sz="1600" b="0">
                <a:solidFill>
                  <a:srgbClr val="1B2A4A"/>
                </a:solidFill>
                <a:latin typeface="Calibri"/>
                <a:ea typeface="Calibri"/>
              </a:rPr>
              <a:t>• Disruption monitoring panel</a:t>
            </a:r>
          </a:p>
          <a:p>
            <a:r>
              <a:rPr lang="en-US" sz="1600" b="0">
                <a:solidFill>
                  <a:srgbClr val="1B2A4A"/>
                </a:solidFill>
                <a:latin typeface="Calibri"/>
                <a:ea typeface="Calibri"/>
              </a:rPr>
              <a:t>• Shipment risk table</a:t>
            </a:r>
          </a:p>
          <a:p>
            <a:r>
              <a:rPr lang="en-US" sz="1600" b="0">
                <a:solidFill>
                  <a:srgbClr val="1B2A4A"/>
                </a:solidFill>
                <a:latin typeface="Calibri"/>
                <a:ea typeface="Calibri"/>
              </a:rPr>
              <a:t>• Fleet availability view</a:t>
            </a:r>
          </a:p>
          <a:p>
            <a:r>
              <a:rPr lang="en-US" sz="1600" b="0">
                <a:solidFill>
                  <a:srgbClr val="1B2A4A"/>
                </a:solidFill>
                <a:latin typeface="Calibri"/>
                <a:ea typeface="Calibri"/>
              </a:rPr>
              <a:t>• What-If simulation button</a:t>
            </a:r>
          </a:p>
          <a:p>
            <a:r>
              <a:rPr lang="en-US" sz="1600" b="0">
                <a:solidFill>
                  <a:srgbClr val="1B2A4A"/>
                </a:solidFill>
                <a:latin typeface="Calibri"/>
                <a:ea typeface="Calibri"/>
              </a:rPr>
              <a:t>• Bob AI Assistant chat</a:t>
            </a:r>
          </a:p>
        </p:txBody>
      </p:sp>
      <p:sp>
        <p:nvSpPr>
          <p:cNvPr id="100027" name="ArrowFB"/>
          <p:cNvSpPr txBox="1"/>
          <p:nvPr/>
        </p:nvSpPr>
        <p:spPr>
          <a:xfrm>
            <a:off x="3204000" y="2880000"/>
            <a:ext cx="900000" cy="540000"/>
          </a:xfrm>
          <a:prstGeom prst="rect">
            <a:avLst/>
          </a:prstGeom>
          <a:noFill/>
        </p:spPr>
        <p:txBody>
          <a:bodyPr/>
          <a:lstStyle/>
          <a:p>
            <a:r>
              <a:rPr lang="en-US" sz="1400" b="1">
                <a:solidFill>
                  <a:srgbClr val="3B7DD8"/>
                </a:solidFill>
                <a:latin typeface="Calibri"/>
                <a:ea typeface="Calibri"/>
              </a:rPr>
              <a:t>⟷ REST</a:t>
            </a:r>
          </a:p>
        </p:txBody>
      </p:sp>
      <p:sp>
        <p:nvSpPr>
          <p:cNvPr id="100028" name="LayerMiddle"/>
          <p:cNvSpPr txBox="1"/>
          <p:nvPr/>
        </p:nvSpPr>
        <p:spPr>
          <a:xfrm>
            <a:off x="4176000" y="1440000"/>
            <a:ext cx="2880000" cy="3600000"/>
          </a:xfrm>
          <a:prstGeom prst="rect">
            <a:avLst/>
          </a:prstGeom>
          <a:solidFill>
            <a:srgbClr val="EAF2FB"/>
          </a:solidFill>
        </p:spPr>
        <p:txBody>
          <a:bodyPr/>
          <a:lstStyle/>
          <a:p>
            <a:r>
              <a:rPr lang="en-US" sz="1500" b="0">
                <a:solidFill>
                  <a:srgbClr val="1B2A4A"/>
                </a:solidFill>
                <a:latin typeface="Calibri"/>
                <a:ea typeface="Calibri"/>
              </a:rPr>
              <a:t>FastAPI Backend</a:t>
            </a:r>
          </a:p>
          <a:p>
            <a:endParaRPr lang="en-US" sz="1500" b="0">
              <a:solidFill>
                <a:srgbClr val="1B2A4A"/>
              </a:solidFill>
              <a:latin typeface="Calibri"/>
              <a:ea typeface="Calibri"/>
            </a:endParaRPr>
          </a:p>
          <a:p>
            <a:r>
              <a:rPr lang="en-US" sz="1500" b="0">
                <a:solidFill>
                  <a:srgbClr val="1B2A4A"/>
                </a:solidFill>
                <a:latin typeface="Calibri"/>
                <a:ea typeface="Calibri"/>
              </a:rPr>
              <a:t>Deterministic endpoints:</a:t>
            </a:r>
          </a:p>
          <a:p>
            <a:r>
              <a:rPr lang="en-US" sz="1500" b="0">
                <a:solidFill>
                  <a:srgbClr val="1B2A4A"/>
                </a:solidFill>
                <a:latin typeface="Calibri"/>
                <a:ea typeface="Calibri"/>
              </a:rPr>
              <a:t>• /shipments</a:t>
            </a:r>
          </a:p>
          <a:p>
            <a:r>
              <a:rPr lang="en-US" sz="1500" b="0">
                <a:solidFill>
                  <a:srgbClr val="1B2A4A"/>
                </a:solidFill>
                <a:latin typeface="Calibri"/>
                <a:ea typeface="Calibri"/>
              </a:rPr>
              <a:t>• /disruptions</a:t>
            </a:r>
          </a:p>
          <a:p>
            <a:r>
              <a:rPr lang="en-US" sz="1500" b="0">
                <a:solidFill>
                  <a:srgbClr val="1B2A4A"/>
                </a:solidFill>
                <a:latin typeface="Calibri"/>
                <a:ea typeface="Calibri"/>
              </a:rPr>
              <a:t>• /fleet</a:t>
            </a:r>
          </a:p>
          <a:p>
            <a:r>
              <a:rPr lang="en-US" sz="1500" b="0">
                <a:solidFill>
                  <a:srgbClr val="1B2A4A"/>
                </a:solidFill>
                <a:latin typeface="Calibri"/>
                <a:ea typeface="Calibri"/>
              </a:rPr>
              <a:t>• /simulate-disruption</a:t>
            </a:r>
          </a:p>
          <a:p>
            <a:r>
              <a:rPr lang="en-US" sz="1500" b="0">
                <a:solidFill>
                  <a:srgbClr val="1B2A4A"/>
                </a:solidFill>
                <a:latin typeface="Calibri"/>
                <a:ea typeface="Calibri"/>
              </a:rPr>
              <a:t>• /fleet-recommendation</a:t>
            </a:r>
          </a:p>
          <a:p>
            <a:r>
              <a:rPr lang="en-US" sz="1500" b="0">
                <a:solidFill>
                  <a:srgbClr val="1B2A4A"/>
                </a:solidFill>
                <a:latin typeface="Calibri"/>
                <a:ea typeface="Calibri"/>
              </a:rPr>
              <a:t>• /cold-chain-risk</a:t>
            </a:r>
          </a:p>
          <a:p>
            <a:r>
              <a:rPr lang="en-US" sz="1500" b="0">
                <a:solidFill>
                  <a:srgbClr val="1B2A4A"/>
                </a:solidFill>
                <a:latin typeface="Calibri"/>
                <a:ea typeface="Calibri"/>
              </a:rPr>
              <a:t>• POST /assistant</a:t>
            </a:r>
          </a:p>
        </p:txBody>
      </p:sp>
      <p:sp>
        <p:nvSpPr>
          <p:cNvPr id="100029" name="ArrowAI"/>
          <p:cNvSpPr txBox="1"/>
          <p:nvPr/>
        </p:nvSpPr>
        <p:spPr>
          <a:xfrm>
            <a:off x="7128000" y="2880000"/>
            <a:ext cx="1080000" cy="540000"/>
          </a:xfrm>
          <a:prstGeom prst="rect">
            <a:avLst/>
          </a:prstGeom>
          <a:noFill/>
        </p:spPr>
        <p:txBody>
          <a:bodyPr/>
          <a:lstStyle/>
          <a:p>
            <a:r>
              <a:rPr lang="en-US" sz="1300" b="0">
                <a:solidFill>
                  <a:srgbClr val="3B7DD8"/>
                </a:solidFill>
                <a:latin typeface="Calibri"/>
                <a:ea typeface="Calibri"/>
              </a:rPr>
              <a:t>facts JSON</a:t>
            </a:r>
          </a:p>
          <a:p>
            <a:r>
              <a:rPr lang="en-US" sz="1300" b="0">
                <a:solidFill>
                  <a:srgbClr val="3B7DD8"/>
                </a:solidFill>
                <a:latin typeface="Calibri"/>
                <a:ea typeface="Calibri"/>
              </a:rPr>
              <a:t>+ question →</a:t>
            </a:r>
          </a:p>
        </p:txBody>
      </p:sp>
      <p:sp>
        <p:nvSpPr>
          <p:cNvPr id="100030" name="LayerAI"/>
          <p:cNvSpPr txBox="1"/>
          <p:nvPr/>
        </p:nvSpPr>
        <p:spPr>
          <a:xfrm>
            <a:off x="8280000" y="1440000"/>
            <a:ext cx="3420000" cy="3600000"/>
          </a:xfrm>
          <a:prstGeom prst="rect">
            <a:avLst/>
          </a:prstGeom>
          <a:solidFill>
            <a:srgbClr val="E8F5E9"/>
          </a:solidFill>
        </p:spPr>
        <p:txBody>
          <a:bodyPr/>
          <a:lstStyle/>
          <a:p>
            <a:r>
              <a:rPr lang="en-US" sz="1400" b="0">
                <a:solidFill>
                  <a:srgbClr val="1B2A4A"/>
                </a:solidFill>
                <a:latin typeface="Calibri"/>
                <a:ea typeface="Calibri"/>
              </a:rPr>
              <a:t>AI Provider</a:t>
            </a:r>
          </a:p>
          <a:p>
            <a:endParaRPr lang="en-US" sz="1400" b="0">
              <a:solidFill>
                <a:srgbClr val="1B2A4A"/>
              </a:solidFill>
              <a:latin typeface="Calibri"/>
              <a:ea typeface="Calibri"/>
            </a:endParaRPr>
          </a:p>
          <a:p>
            <a:r>
              <a:rPr lang="en-US" sz="1400" b="0">
                <a:solidFill>
                  <a:srgbClr val="1B2A4A"/>
                </a:solidFill>
                <a:latin typeface="Calibri"/>
                <a:ea typeface="Calibri"/>
              </a:rPr>
              <a:t>_gather_facts() computes structured data</a:t>
            </a:r>
          </a:p>
          <a:p>
            <a:r>
              <a:rPr lang="en-US" sz="1400" b="0">
                <a:solidFill>
                  <a:srgbClr val="1B2A4A"/>
                </a:solidFill>
                <a:latin typeface="Calibri"/>
                <a:ea typeface="Calibri"/>
              </a:rPr>
              <a:t>first — AI only sees verified numbers</a:t>
            </a:r>
          </a:p>
          <a:p>
            <a:endParaRPr lang="en-US" sz="1400" b="0">
              <a:solidFill>
                <a:srgbClr val="1B2A4A"/>
              </a:solidFill>
              <a:latin typeface="Calibri"/>
              <a:ea typeface="Calibri"/>
            </a:endParaRPr>
          </a:p>
          <a:p>
            <a:r>
              <a:rPr lang="en-US" sz="1400" b="0">
                <a:solidFill>
                  <a:srgbClr val="1B2A4A"/>
                </a:solidFill>
                <a:latin typeface="Calibri"/>
                <a:ea typeface="Calibri"/>
              </a:rPr>
              <a:t>WatsonxProvider:</a:t>
            </a:r>
          </a:p>
          <a:p>
            <a:r>
              <a:rPr lang="en-US" sz="1400" b="0">
                <a:solidFill>
                  <a:srgbClr val="1B2A4A"/>
                </a:solidFill>
                <a:latin typeface="Calibri"/>
                <a:ea typeface="Calibri"/>
              </a:rPr>
              <a:t>ibm/granite-3-8b-instruct</a:t>
            </a:r>
          </a:p>
          <a:p>
            <a:r>
              <a:rPr lang="en-US" sz="1400" b="0">
                <a:solidFill>
                  <a:srgbClr val="1B2A4A"/>
                </a:solidFill>
                <a:latin typeface="Calibri"/>
                <a:ea typeface="Calibri"/>
              </a:rPr>
              <a:t>max_new_tokens: 600</a:t>
            </a:r>
          </a:p>
          <a:p>
            <a:r>
              <a:rPr lang="en-US" sz="1400" b="0">
                <a:solidFill>
                  <a:srgbClr val="1B2A4A"/>
                </a:solidFill>
                <a:latin typeface="Calibri"/>
                <a:ea typeface="Calibri"/>
              </a:rPr>
              <a:t>temperature: 0.2</a:t>
            </a:r>
          </a:p>
          <a:p>
            <a:endParaRPr lang="en-US" sz="1400" b="0">
              <a:solidFill>
                <a:srgbClr val="1B2A4A"/>
              </a:solidFill>
              <a:latin typeface="Calibri"/>
              <a:ea typeface="Calibri"/>
            </a:endParaRPr>
          </a:p>
          <a:p>
            <a:r>
              <a:rPr lang="en-US" sz="1400" b="0">
                <a:solidFill>
                  <a:srgbClr val="1B2A4A"/>
                </a:solidFill>
                <a:latin typeface="Calibri"/>
                <a:ea typeface="Calibri"/>
              </a:rPr>
              <a:t>FallbackProvider:</a:t>
            </a:r>
          </a:p>
          <a:p>
            <a:r>
              <a:rPr lang="en-US" sz="1400" b="0">
                <a:solidFill>
                  <a:srgbClr val="1B2A4A"/>
                </a:solidFill>
                <a:latin typeface="Calibri"/>
                <a:ea typeface="Calibri"/>
              </a:rPr>
              <a:t>Returns structured facts + config message — no credentials needed</a:t>
            </a:r>
          </a:p>
        </p:txBody>
      </p:sp>
      <p:sp>
        <p:nvSpPr>
          <p:cNvPr id="100031" name="KeyInsight"/>
          <p:cNvSpPr txBox="1"/>
          <p:nvPr/>
        </p:nvSpPr>
        <p:spPr>
          <a:xfrm>
            <a:off x="432000" y="5220000"/>
            <a:ext cx="11340000" cy="648000"/>
          </a:xfrm>
          <a:prstGeom prst="rect">
            <a:avLst/>
          </a:prstGeom>
          <a:solidFill>
            <a:srgbClr val="1B2A4A"/>
          </a:solidFill>
        </p:spPr>
        <p:txBody>
          <a:bodyPr/>
          <a:lstStyle/>
          <a:p>
            <a:r>
              <a:rPr lang="en-US" sz="1600" b="1">
                <a:solidFill>
                  <a:srgbClr val="FFFFFF"/>
                </a:solidFill>
                <a:latin typeface="Calibri"/>
                <a:ea typeface="Calibri"/>
              </a:rPr>
              <a:t>KEY DESIGN PRINCIPLE: The AI cannot hallucinate — it can only narrate what the backend already computed.</a:t>
            </a:r>
          </a:p>
        </p:txBody>
      </p:sp>
      <p:sp>
        <p:nvSpPr>
          <p:cNvPr id="100032" name="BottomBar"/>
          <p:cNvSpPr txBox="1"/>
          <p:nvPr/>
        </p:nvSpPr>
        <p:spPr>
          <a:xfrm>
            <a:off x="0" y="6768000"/>
            <a:ext cx="12193200" cy="72000"/>
          </a:xfrm>
          <a:prstGeom prst="rect">
            <a:avLst/>
          </a:prstGeom>
          <a:solidFill>
            <a:srgbClr val="3B7DD8"/>
          </a:solidFill>
        </p:spPr>
        <p:txBody>
          <a:bodyPr/>
          <a:lstStyle/>
          <a:p>
            <a:endParaRPr lang="en-US" sz="800">
              <a:solidFill>
                <a:srgbClr val="3B7DD8"/>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33" name="TopBar"/>
          <p:cNvSpPr txBox="1"/>
          <p:nvPr/>
        </p:nvSpPr>
        <p:spPr>
          <a:xfrm>
            <a:off x="0" y="0"/>
            <a:ext cx="12193200" cy="432000"/>
          </a:xfrm>
          <a:prstGeom prst="rect">
            <a:avLst/>
          </a:prstGeom>
          <a:solidFill>
            <a:srgbClr val="1B2A4A"/>
          </a:solidFill>
        </p:spPr>
        <p:txBody>
          <a:bodyPr/>
          <a:lstStyle/>
          <a:p>
            <a:endParaRPr lang="en-US" sz="800">
              <a:solidFill>
                <a:srgbClr val="1B2A4A"/>
              </a:solidFill>
            </a:endParaRPr>
          </a:p>
        </p:txBody>
      </p:sp>
      <p:sp>
        <p:nvSpPr>
          <p:cNvPr id="100034" name="SlideLabel"/>
          <p:cNvSpPr txBox="1"/>
          <p:nvPr/>
        </p:nvSpPr>
        <p:spPr>
          <a:xfrm>
            <a:off x="540000" y="72000"/>
            <a:ext cx="7200000" cy="288000"/>
          </a:xfrm>
          <a:prstGeom prst="rect">
            <a:avLst/>
          </a:prstGeom>
          <a:noFill/>
        </p:spPr>
        <p:txBody>
          <a:bodyPr/>
          <a:lstStyle/>
          <a:p>
            <a:r>
              <a:rPr lang="en-US" sz="1300" b="1">
                <a:solidFill>
                  <a:srgbClr val="A8C4E8"/>
                </a:solidFill>
                <a:latin typeface="Calibri"/>
                <a:ea typeface="Calibri"/>
              </a:rPr>
              <a:t>05  ·  KEY FEATURES</a:t>
            </a:r>
          </a:p>
        </p:txBody>
      </p:sp>
      <p:sp>
        <p:nvSpPr>
          <p:cNvPr id="100035" name="Title"/>
          <p:cNvSpPr txBox="1"/>
          <p:nvPr/>
        </p:nvSpPr>
        <p:spPr>
          <a:xfrm>
            <a:off x="540000" y="540000"/>
            <a:ext cx="10800000" cy="720000"/>
          </a:xfrm>
          <a:prstGeom prst="rect">
            <a:avLst/>
          </a:prstGeom>
          <a:noFill/>
        </p:spPr>
        <p:txBody>
          <a:bodyPr/>
          <a:lstStyle/>
          <a:p>
            <a:r>
              <a:rPr lang="en-US" sz="3200" b="1">
                <a:solidFill>
                  <a:srgbClr val="1B2A4A"/>
                </a:solidFill>
                <a:latin typeface="Calibri"/>
                <a:ea typeface="Calibri"/>
              </a:rPr>
              <a:t>Six Features. All Implemented.</a:t>
            </a:r>
          </a:p>
        </p:txBody>
      </p:sp>
      <p:sp>
        <p:nvSpPr>
          <p:cNvPr id="100036" name="F1"/>
          <p:cNvSpPr txBox="1"/>
          <p:nvPr/>
        </p:nvSpPr>
        <p:spPr>
          <a:xfrm>
            <a:off x="432000" y="1440000"/>
            <a:ext cx="3528000" cy="2520000"/>
          </a:xfrm>
          <a:prstGeom prst="rect">
            <a:avLst/>
          </a:prstGeom>
          <a:solidFill>
            <a:srgbClr val="EAF2FB"/>
          </a:solidFill>
        </p:spPr>
        <p:txBody>
          <a:bodyPr/>
          <a:lstStyle/>
          <a:p>
            <a:r>
              <a:rPr lang="en-US" sz="1500" b="0">
                <a:solidFill>
                  <a:srgbClr val="1B2A4A"/>
                </a:solidFill>
                <a:latin typeface="Calibri"/>
                <a:ea typeface="Calibri"/>
              </a:rPr>
              <a:t>01  Disruption Monitoring</a:t>
            </a:r>
          </a:p>
          <a:p>
            <a:endParaRPr lang="en-US" sz="1500" b="0">
              <a:solidFill>
                <a:srgbClr val="1B2A4A"/>
              </a:solidFill>
              <a:latin typeface="Calibri"/>
              <a:ea typeface="Calibri"/>
            </a:endParaRPr>
          </a:p>
          <a:p>
            <a:r>
              <a:rPr lang="en-US" sz="1500" b="0">
                <a:solidFill>
                  <a:srgbClr val="1B2A4A"/>
                </a:solidFill>
                <a:latin typeface="Calibri"/>
                <a:ea typeface="Calibri"/>
              </a:rPr>
              <a:t>Live dashboard showing active disruptions, severity, affected location, and expected duration. Rotterdam port strike shown as CRITICAL / ACTIVE.</a:t>
            </a:r>
          </a:p>
        </p:txBody>
      </p:sp>
      <p:sp>
        <p:nvSpPr>
          <p:cNvPr id="100037" name="F2"/>
          <p:cNvSpPr txBox="1"/>
          <p:nvPr/>
        </p:nvSpPr>
        <p:spPr>
          <a:xfrm>
            <a:off x="4104000" y="1440000"/>
            <a:ext cx="3528000" cy="2520000"/>
          </a:xfrm>
          <a:prstGeom prst="rect">
            <a:avLst/>
          </a:prstGeom>
          <a:solidFill>
            <a:srgbClr val="FFF4E0"/>
          </a:solidFill>
        </p:spPr>
        <p:txBody>
          <a:bodyPr/>
          <a:lstStyle/>
          <a:p>
            <a:r>
              <a:rPr lang="en-US" sz="1500" b="0">
                <a:solidFill>
                  <a:srgbClr val="1B2A4A"/>
                </a:solidFill>
                <a:latin typeface="Calibri"/>
                <a:ea typeface="Calibri"/>
              </a:rPr>
              <a:t>02  What-If Simulation</a:t>
            </a:r>
          </a:p>
          <a:p>
            <a:endParaRPr lang="en-US" sz="1500" b="0">
              <a:solidFill>
                <a:srgbClr val="1B2A4A"/>
              </a:solidFill>
              <a:latin typeface="Calibri"/>
              <a:ea typeface="Calibri"/>
            </a:endParaRPr>
          </a:p>
          <a:p>
            <a:r>
              <a:rPr lang="en-US" sz="1500" b="0">
                <a:solidFill>
                  <a:srgbClr val="1B2A4A"/>
                </a:solidFill>
                <a:latin typeface="Calibri"/>
                <a:ea typeface="Calibri"/>
              </a:rPr>
              <a:t>One click: extend Rotterdam strike by 48 h. Computes projected 96-hour duration, 1 impacted cold-chain shipment, $520,000 at risk, risk → CRITICAL.</a:t>
            </a:r>
          </a:p>
        </p:txBody>
      </p:sp>
      <p:sp>
        <p:nvSpPr>
          <p:cNvPr id="100038" name="F3"/>
          <p:cNvSpPr txBox="1"/>
          <p:nvPr/>
        </p:nvSpPr>
        <p:spPr>
          <a:xfrm>
            <a:off x="7776000" y="1440000"/>
            <a:ext cx="3888000" cy="2520000"/>
          </a:xfrm>
          <a:prstGeom prst="rect">
            <a:avLst/>
          </a:prstGeom>
          <a:solidFill>
            <a:srgbClr val="FFF0F0"/>
          </a:solidFill>
        </p:spPr>
        <p:txBody>
          <a:bodyPr/>
          <a:lstStyle/>
          <a:p>
            <a:r>
              <a:rPr lang="en-US" sz="1500" b="0">
                <a:solidFill>
                  <a:srgbClr val="1B2A4A"/>
                </a:solidFill>
                <a:latin typeface="Calibri"/>
                <a:ea typeface="Calibri"/>
              </a:rPr>
              <a:t>03  Shipment Risk Ranking</a:t>
            </a:r>
          </a:p>
          <a:p>
            <a:endParaRPr lang="en-US" sz="1500" b="0">
              <a:solidFill>
                <a:srgbClr val="1B2A4A"/>
              </a:solidFill>
              <a:latin typeface="Calibri"/>
              <a:ea typeface="Calibri"/>
            </a:endParaRPr>
          </a:p>
          <a:p>
            <a:r>
              <a:rPr lang="en-US" sz="1500" b="0">
                <a:solidFill>
                  <a:srgbClr val="1B2A4A"/>
                </a:solidFill>
                <a:latin typeface="Calibri"/>
                <a:ea typeface="Calibri"/>
              </a:rPr>
              <a:t>All 3 shipments ranked Critical → High → Medium. Cold-chain flag, cargo value, status, and route visible at a glance.</a:t>
            </a:r>
          </a:p>
        </p:txBody>
      </p:sp>
      <p:sp>
        <p:nvSpPr>
          <p:cNvPr id="100039" name="F4"/>
          <p:cNvSpPr txBox="1"/>
          <p:nvPr/>
        </p:nvSpPr>
        <p:spPr>
          <a:xfrm>
            <a:off x="432000" y="4140000"/>
            <a:ext cx="3528000" cy="2520000"/>
          </a:xfrm>
          <a:prstGeom prst="rect">
            <a:avLst/>
          </a:prstGeom>
          <a:solidFill>
            <a:srgbClr val="E8F5E9"/>
          </a:solidFill>
        </p:spPr>
        <p:txBody>
          <a:bodyPr/>
          <a:lstStyle/>
          <a:p>
            <a:r>
              <a:rPr lang="en-US" sz="1500" b="0">
                <a:solidFill>
                  <a:srgbClr val="1B2A4A"/>
                </a:solidFill>
                <a:latin typeface="Calibri"/>
                <a:ea typeface="Calibri"/>
              </a:rPr>
              <a:t>04  Cold-Chain Risk</a:t>
            </a:r>
          </a:p>
          <a:p>
            <a:endParaRPr lang="en-US" sz="1500" b="0">
              <a:solidFill>
                <a:srgbClr val="1B2A4A"/>
              </a:solidFill>
              <a:latin typeface="Calibri"/>
              <a:ea typeface="Calibri"/>
            </a:endParaRPr>
          </a:p>
          <a:p>
            <a:r>
              <a:rPr lang="en-US" sz="1500" b="0">
                <a:solidFill>
                  <a:srgbClr val="1B2A4A"/>
                </a:solidFill>
                <a:latin typeface="Calibri"/>
                <a:ea typeface="Calibri"/>
              </a:rPr>
              <a:t>/cold-chain-risk/{id} endpoint evaluates temperature vs. safe range (2–8 °C for vaccines). Returns risk level with safety message.</a:t>
            </a:r>
          </a:p>
        </p:txBody>
      </p:sp>
      <p:sp>
        <p:nvSpPr>
          <p:cNvPr id="100040" name="F5"/>
          <p:cNvSpPr txBox="1"/>
          <p:nvPr/>
        </p:nvSpPr>
        <p:spPr>
          <a:xfrm>
            <a:off x="4104000" y="4140000"/>
            <a:ext cx="3528000" cy="2520000"/>
          </a:xfrm>
          <a:prstGeom prst="rect">
            <a:avLst/>
          </a:prstGeom>
          <a:solidFill>
            <a:srgbClr val="F0E8F5"/>
          </a:solidFill>
        </p:spPr>
        <p:txBody>
          <a:bodyPr/>
          <a:lstStyle/>
          <a:p>
            <a:r>
              <a:rPr lang="en-US" sz="1500" b="0">
                <a:solidFill>
                  <a:srgbClr val="1B2A4A"/>
                </a:solidFill>
                <a:latin typeface="Calibri"/>
                <a:ea typeface="Calibri"/>
              </a:rPr>
              <a:t>05  Fleet Optimisation</a:t>
            </a:r>
          </a:p>
          <a:p>
            <a:endParaRPr lang="en-US" sz="1500" b="0">
              <a:solidFill>
                <a:srgbClr val="1B2A4A"/>
              </a:solidFill>
              <a:latin typeface="Calibri"/>
              <a:ea typeface="Calibri"/>
            </a:endParaRPr>
          </a:p>
          <a:p>
            <a:r>
              <a:rPr lang="en-US" sz="1500" b="0">
                <a:solidFill>
                  <a:srgbClr val="1B2A4A"/>
                </a:solidFill>
                <a:latin typeface="Calibri"/>
                <a:ea typeface="Calibri"/>
              </a:rPr>
              <a:t>/fleet-recommendation/{id} ranks available assets: refrigerated-first, proximity-first, lowest utilisation. TRUCK-017 (Rotterdam, 35%) wins for SHIP-001 vaccines.</a:t>
            </a:r>
          </a:p>
        </p:txBody>
      </p:sp>
      <p:sp>
        <p:nvSpPr>
          <p:cNvPr id="100041" name="F6"/>
          <p:cNvSpPr txBox="1"/>
          <p:nvPr/>
        </p:nvSpPr>
        <p:spPr>
          <a:xfrm>
            <a:off x="7776000" y="4140000"/>
            <a:ext cx="3888000" cy="2520000"/>
          </a:xfrm>
          <a:prstGeom prst="rect">
            <a:avLst/>
          </a:prstGeom>
          <a:solidFill>
            <a:srgbClr val="E8F0F5"/>
          </a:solidFill>
        </p:spPr>
        <p:txBody>
          <a:bodyPr/>
          <a:lstStyle/>
          <a:p>
            <a:r>
              <a:rPr lang="en-US" sz="1500" b="0">
                <a:solidFill>
                  <a:srgbClr val="1B2A4A"/>
                </a:solidFill>
                <a:latin typeface="Calibri"/>
                <a:ea typeface="Calibri"/>
              </a:rPr>
              <a:t>06  Conversational AI Assistant</a:t>
            </a:r>
          </a:p>
          <a:p>
            <a:endParaRPr lang="en-US" sz="1500" b="0">
              <a:solidFill>
                <a:srgbClr val="1B2A4A"/>
              </a:solidFill>
              <a:latin typeface="Calibri"/>
              <a:ea typeface="Calibri"/>
            </a:endParaRPr>
          </a:p>
          <a:p>
            <a:r>
              <a:rPr lang="en-US" sz="1500" b="0">
                <a:solidFill>
                  <a:srgbClr val="1B2A4A"/>
                </a:solidFill>
                <a:latin typeface="Calibri"/>
                <a:ea typeface="Calibri"/>
              </a:rPr>
              <a:t>POST /assistant: natural-language Q&amp;A grounded in backend-computed facts. Suggested questions, collapsible JSON facts panel, provider badge.</a:t>
            </a:r>
          </a:p>
        </p:txBody>
      </p:sp>
      <p:sp>
        <p:nvSpPr>
          <p:cNvPr id="100042" name="BottomBar"/>
          <p:cNvSpPr txBox="1"/>
          <p:nvPr/>
        </p:nvSpPr>
        <p:spPr>
          <a:xfrm>
            <a:off x="0" y="6768000"/>
            <a:ext cx="12193200" cy="72000"/>
          </a:xfrm>
          <a:prstGeom prst="rect">
            <a:avLst/>
          </a:prstGeom>
          <a:solidFill>
            <a:srgbClr val="3B7DD8"/>
          </a:solidFill>
        </p:spPr>
        <p:txBody>
          <a:bodyPr/>
          <a:lstStyle/>
          <a:p>
            <a:endParaRPr lang="en-US" sz="800">
              <a:solidFill>
                <a:srgbClr val="3B7DD8"/>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100043" name="SlideLabel"/>
          <p:cNvSpPr txBox="1"/>
          <p:nvPr/>
        </p:nvSpPr>
        <p:spPr>
          <a:xfrm>
            <a:off x="540000" y="180000"/>
            <a:ext cx="7200000" cy="288000"/>
          </a:xfrm>
          <a:prstGeom prst="rect">
            <a:avLst/>
          </a:prstGeom>
          <a:noFill/>
        </p:spPr>
        <p:txBody>
          <a:bodyPr/>
          <a:lstStyle/>
          <a:p>
            <a:r>
              <a:rPr lang="en-US" sz="1300" b="1">
                <a:solidFill>
                  <a:srgbClr val="A8C4E8"/>
                </a:solidFill>
                <a:latin typeface="Calibri"/>
                <a:ea typeface="Calibri"/>
              </a:rPr>
              <a:t>06  ·  LIVE DEMO STORY</a:t>
            </a:r>
          </a:p>
        </p:txBody>
      </p:sp>
      <p:sp>
        <p:nvSpPr>
          <p:cNvPr id="100044" name="Title"/>
          <p:cNvSpPr txBox="1"/>
          <p:nvPr/>
        </p:nvSpPr>
        <p:spPr>
          <a:xfrm>
            <a:off x="540000" y="540000"/>
            <a:ext cx="10800000" cy="720000"/>
          </a:xfrm>
          <a:prstGeom prst="rect">
            <a:avLst/>
          </a:prstGeom>
          <a:noFill/>
        </p:spPr>
        <p:txBody>
          <a:bodyPr/>
          <a:lstStyle/>
          <a:p>
            <a:r>
              <a:rPr lang="en-US" sz="3200" b="1">
                <a:solidFill>
                  <a:srgbClr val="FFFFFF"/>
                </a:solidFill>
                <a:latin typeface="Calibri"/>
                <a:ea typeface="Calibri"/>
              </a:rPr>
              <a:t>Rotterdam Port Strike: What Happens Next?</a:t>
            </a:r>
          </a:p>
        </p:txBody>
      </p:sp>
      <p:sp>
        <p:nvSpPr>
          <p:cNvPr id="100045" name="Setup"/>
          <p:cNvSpPr txBox="1"/>
          <p:nvPr/>
        </p:nvSpPr>
        <p:spPr>
          <a:xfrm>
            <a:off x="432000" y="1440000"/>
            <a:ext cx="5580000" cy="2340000"/>
          </a:xfrm>
          <a:prstGeom prst="rect">
            <a:avLst/>
          </a:prstGeom>
          <a:solidFill>
            <a:srgbClr val="2C3E66"/>
          </a:solidFill>
        </p:spPr>
        <p:txBody>
          <a:bodyPr/>
          <a:lstStyle/>
          <a:p>
            <a:r>
              <a:rPr lang="en-US" sz="1600" b="0">
                <a:solidFill>
                  <a:srgbClr val="FFFFFF"/>
                </a:solidFill>
                <a:latin typeface="Calibri"/>
                <a:ea typeface="Calibri"/>
              </a:rPr>
              <a:t>SETUP</a:t>
            </a:r>
          </a:p>
          <a:p>
            <a:endParaRPr lang="en-US" sz="1600" b="0">
              <a:solidFill>
                <a:srgbClr val="FFFFFF"/>
              </a:solidFill>
              <a:latin typeface="Calibri"/>
              <a:ea typeface="Calibri"/>
            </a:endParaRPr>
          </a:p>
          <a:p>
            <a:r>
              <a:rPr lang="en-US" sz="1600" b="0">
                <a:solidFill>
                  <a:srgbClr val="FFFFFF"/>
                </a:solidFill>
                <a:latin typeface="Calibri"/>
                <a:ea typeface="Calibri"/>
              </a:rPr>
              <a:t>Disruption DISR-001 is ACTIVE</a:t>
            </a:r>
          </a:p>
          <a:p>
            <a:r>
              <a:rPr lang="en-US" sz="1600" b="0">
                <a:solidFill>
                  <a:srgbClr val="FFFFFF"/>
                </a:solidFill>
                <a:latin typeface="Calibri"/>
                <a:ea typeface="Calibri"/>
              </a:rPr>
              <a:t>Type: Port Strike  ·  Location: Rotterdam</a:t>
            </a:r>
          </a:p>
          <a:p>
            <a:r>
              <a:rPr lang="en-US" sz="1600" b="0">
                <a:solidFill>
                  <a:srgbClr val="FFFFFF"/>
                </a:solidFill>
                <a:latin typeface="Calibri"/>
                <a:ea typeface="Calibri"/>
              </a:rPr>
              <a:t>Severity: High  ·  Expected duration: 48 hours</a:t>
            </a:r>
          </a:p>
          <a:p>
            <a:endParaRPr lang="en-US" sz="1600" b="0">
              <a:solidFill>
                <a:srgbClr val="FFFFFF"/>
              </a:solidFill>
              <a:latin typeface="Calibri"/>
              <a:ea typeface="Calibri"/>
            </a:endParaRPr>
          </a:p>
          <a:p>
            <a:r>
              <a:rPr lang="en-US" sz="1600" b="0">
                <a:solidFill>
                  <a:srgbClr val="FFFFFF"/>
                </a:solidFill>
                <a:latin typeface="Calibri"/>
                <a:ea typeface="Calibri"/>
              </a:rPr>
              <a:t>Question: What if it lasts another 48 hours?</a:t>
            </a:r>
          </a:p>
        </p:txBody>
      </p:sp>
      <p:sp>
        <p:nvSpPr>
          <p:cNvPr id="100046" name="Result"/>
          <p:cNvSpPr txBox="1"/>
          <p:nvPr/>
        </p:nvSpPr>
        <p:spPr>
          <a:xfrm>
            <a:off x="6120000" y="1440000"/>
            <a:ext cx="5580000" cy="2340000"/>
          </a:xfrm>
          <a:prstGeom prst="rect">
            <a:avLst/>
          </a:prstGeom>
          <a:solidFill>
            <a:srgbClr val="7B2020"/>
          </a:solidFill>
        </p:spPr>
        <p:txBody>
          <a:bodyPr/>
          <a:lstStyle/>
          <a:p>
            <a:r>
              <a:rPr lang="en-US" sz="1600" b="0">
                <a:solidFill>
                  <a:srgbClr val="FFFFFF"/>
                </a:solidFill>
                <a:latin typeface="Calibri"/>
                <a:ea typeface="Calibri"/>
              </a:rPr>
              <a:t>COMPUTED RESULT</a:t>
            </a:r>
          </a:p>
          <a:p>
            <a:endParaRPr lang="en-US" sz="1600" b="0">
              <a:solidFill>
                <a:srgbClr val="FFFFFF"/>
              </a:solidFill>
              <a:latin typeface="Calibri"/>
              <a:ea typeface="Calibri"/>
            </a:endParaRPr>
          </a:p>
          <a:p>
            <a:r>
              <a:rPr lang="en-US" sz="1600" b="0">
                <a:solidFill>
                  <a:srgbClr val="FFFFFF"/>
                </a:solidFill>
                <a:latin typeface="Calibri"/>
                <a:ea typeface="Calibri"/>
              </a:rPr>
              <a:t>Projected duration: 96 hours</a:t>
            </a:r>
          </a:p>
          <a:p>
            <a:r>
              <a:rPr lang="en-US" sz="1600" b="0">
                <a:solidFill>
                  <a:srgbClr val="FFFFFF"/>
                </a:solidFill>
                <a:latin typeface="Calibri"/>
                <a:ea typeface="Calibri"/>
              </a:rPr>
              <a:t>Shipments impacted: 1 (SHIP-001)</a:t>
            </a:r>
          </a:p>
          <a:p>
            <a:r>
              <a:rPr lang="en-US" sz="1600" b="0">
                <a:solidFill>
                  <a:srgbClr val="FFFFFF"/>
                </a:solidFill>
                <a:latin typeface="Calibri"/>
                <a:ea typeface="Calibri"/>
              </a:rPr>
              <a:t>Cold-chain at risk: 1 (Vaccines ❄️)</a:t>
            </a:r>
          </a:p>
          <a:p>
            <a:r>
              <a:rPr lang="en-US" sz="1600" b="0">
                <a:solidFill>
                  <a:srgbClr val="FFFFFF"/>
                </a:solidFill>
                <a:latin typeface="Calibri"/>
                <a:ea typeface="Calibri"/>
              </a:rPr>
              <a:t>Cargo value at risk: $520,000</a:t>
            </a:r>
          </a:p>
          <a:p>
            <a:r>
              <a:rPr lang="en-US" sz="1600" b="0">
                <a:solidFill>
                  <a:srgbClr val="FFFFFF"/>
                </a:solidFill>
                <a:latin typeface="Calibri"/>
                <a:ea typeface="Calibri"/>
              </a:rPr>
              <a:t>Projected risk: CRITICAL 🔴</a:t>
            </a:r>
          </a:p>
        </p:txBody>
      </p:sp>
      <p:sp>
        <p:nvSpPr>
          <p:cNvPr id="100047" name="Why"/>
          <p:cNvSpPr txBox="1"/>
          <p:nvPr/>
        </p:nvSpPr>
        <p:spPr>
          <a:xfrm>
            <a:off x="432000" y="3960000"/>
            <a:ext cx="5580000" cy="1800000"/>
          </a:xfrm>
          <a:prstGeom prst="rect">
            <a:avLst/>
          </a:prstGeom>
          <a:solidFill>
            <a:srgbClr val="2C3E66"/>
          </a:solidFill>
        </p:spPr>
        <p:txBody>
          <a:bodyPr/>
          <a:lstStyle/>
          <a:p>
            <a:r>
              <a:rPr lang="en-US" sz="1500" b="0">
                <a:solidFill>
                  <a:srgbClr val="FFFFFF"/>
                </a:solidFill>
                <a:latin typeface="Calibri"/>
                <a:ea typeface="Calibri"/>
              </a:rPr>
              <a:t>WHY CRITICAL?</a:t>
            </a:r>
          </a:p>
          <a:p>
            <a:r>
              <a:rPr lang="en-US" sz="1500" b="0">
                <a:solidFill>
                  <a:srgbClr val="FFFFFF"/>
                </a:solidFill>
                <a:latin typeface="Calibri"/>
                <a:ea typeface="Calibri"/>
              </a:rPr>
              <a:t>Rule: additional_hours &gt;= 48 AND cold_chain_shipments present</a:t>
            </a:r>
          </a:p>
          <a:p>
            <a:r>
              <a:rPr lang="en-US" sz="1500" b="0">
                <a:solidFill>
                  <a:srgbClr val="FFFFFF"/>
                </a:solidFill>
                <a:latin typeface="Calibri"/>
                <a:ea typeface="Calibri"/>
              </a:rPr>
              <a:t>→ Both conditions met → Risk escalates to CRITICAL</a:t>
            </a:r>
          </a:p>
        </p:txBody>
      </p:sp>
      <p:sp>
        <p:nvSpPr>
          <p:cNvPr id="100048" name="Action"/>
          <p:cNvSpPr txBox="1"/>
          <p:nvPr/>
        </p:nvSpPr>
        <p:spPr>
          <a:xfrm>
            <a:off x="6120000" y="3960000"/>
            <a:ext cx="5580000" cy="1800000"/>
          </a:xfrm>
          <a:prstGeom prst="rect">
            <a:avLst/>
          </a:prstGeom>
          <a:solidFill>
            <a:srgbClr val="1A5C3A"/>
          </a:solidFill>
        </p:spPr>
        <p:txBody>
          <a:bodyPr/>
          <a:lstStyle/>
          <a:p>
            <a:r>
              <a:rPr lang="en-US" sz="1500" b="0">
                <a:solidFill>
                  <a:srgbClr val="FFFFFF"/>
                </a:solidFill>
                <a:latin typeface="Calibri"/>
                <a:ea typeface="Calibri"/>
              </a:rPr>
              <a:t>RECOMMENDED ACTION</a:t>
            </a:r>
          </a:p>
          <a:p>
            <a:r>
              <a:rPr lang="en-US" sz="1500" b="0">
                <a:solidFill>
                  <a:srgbClr val="FFFFFF"/>
                </a:solidFill>
                <a:latin typeface="Calibri"/>
                <a:ea typeface="Calibri"/>
              </a:rPr>
              <a:t>TRUCK-017 — Refrigerated Truck</a:t>
            </a:r>
          </a:p>
          <a:p>
            <a:r>
              <a:rPr lang="en-US" sz="1500" b="0">
                <a:solidFill>
                  <a:srgbClr val="FFFFFF"/>
                </a:solidFill>
                <a:latin typeface="Calibri"/>
                <a:ea typeface="Calibri"/>
              </a:rPr>
              <a:t>Location: Rotterdam (already on-site ✅)</a:t>
            </a:r>
          </a:p>
          <a:p>
            <a:r>
              <a:rPr lang="en-US" sz="1500" b="0">
                <a:solidFill>
                  <a:srgbClr val="FFFFFF"/>
                </a:solidFill>
                <a:latin typeface="Calibri"/>
                <a:ea typeface="Calibri"/>
              </a:rPr>
              <a:t>Capacity: 20 tons  ·  Utilisation: 35%</a:t>
            </a:r>
          </a:p>
          <a:p>
            <a:r>
              <a:rPr lang="en-US" sz="1500" b="0">
                <a:solidFill>
                  <a:srgbClr val="FFFFFF"/>
                </a:solidFill>
                <a:latin typeface="Calibri"/>
                <a:ea typeface="Calibri"/>
              </a:rPr>
              <a:t>Available: Yes  ·  Refrigerated: Yes</a:t>
            </a:r>
          </a:p>
          <a:p>
            <a:endParaRPr lang="en-US" sz="1500" b="0">
              <a:solidFill>
                <a:srgbClr val="FFFFFF"/>
              </a:solidFill>
              <a:latin typeface="Calibri"/>
              <a:ea typeface="Calibri"/>
            </a:endParaRPr>
          </a:p>
          <a:p>
            <a:r>
              <a:rPr lang="en-US" sz="1500" b="0">
                <a:solidFill>
                  <a:srgbClr val="FFFFFF"/>
                </a:solidFill>
                <a:latin typeface="Calibri"/>
                <a:ea typeface="Calibri"/>
              </a:rPr>
              <a:t>→ Zero repositioning delay. Assign now.</a:t>
            </a:r>
          </a:p>
        </p:txBody>
      </p:sp>
      <p:sp>
        <p:nvSpPr>
          <p:cNvPr id="100049" name="AskLine"/>
          <p:cNvSpPr txBox="1"/>
          <p:nvPr/>
        </p:nvSpPr>
        <p:spPr>
          <a:xfrm>
            <a:off x="432000" y="5940000"/>
            <a:ext cx="11340000" cy="540000"/>
          </a:xfrm>
          <a:prstGeom prst="rect">
            <a:avLst/>
          </a:prstGeom>
          <a:noFill/>
        </p:spPr>
        <p:txBody>
          <a:bodyPr/>
          <a:lstStyle/>
          <a:p>
            <a:r>
              <a:rPr lang="en-US" sz="1600" b="1">
                <a:solidFill>
                  <a:srgbClr val="3B7DD8"/>
                </a:solidFill>
                <a:latin typeface="Calibri"/>
                <a:ea typeface="Calibri"/>
              </a:rPr>
              <a:t>"What happens if the Rotterdam strike lasts another 48 hours?"  →  Answer in &lt; 2 seconds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50" name="TopBar"/>
          <p:cNvSpPr txBox="1"/>
          <p:nvPr/>
        </p:nvSpPr>
        <p:spPr>
          <a:xfrm>
            <a:off x="0" y="0"/>
            <a:ext cx="12193200" cy="432000"/>
          </a:xfrm>
          <a:prstGeom prst="rect">
            <a:avLst/>
          </a:prstGeom>
          <a:solidFill>
            <a:srgbClr val="1B2A4A"/>
          </a:solidFill>
        </p:spPr>
        <p:txBody>
          <a:bodyPr/>
          <a:lstStyle/>
          <a:p>
            <a:endParaRPr lang="en-US" sz="800">
              <a:solidFill>
                <a:srgbClr val="1B2A4A"/>
              </a:solidFill>
            </a:endParaRPr>
          </a:p>
        </p:txBody>
      </p:sp>
      <p:sp>
        <p:nvSpPr>
          <p:cNvPr id="100051" name="SlideLabel"/>
          <p:cNvSpPr txBox="1"/>
          <p:nvPr/>
        </p:nvSpPr>
        <p:spPr>
          <a:xfrm>
            <a:off x="540000" y="72000"/>
            <a:ext cx="9000000" cy="288000"/>
          </a:xfrm>
          <a:prstGeom prst="rect">
            <a:avLst/>
          </a:prstGeom>
          <a:noFill/>
        </p:spPr>
        <p:txBody>
          <a:bodyPr/>
          <a:lstStyle/>
          <a:p>
            <a:r>
              <a:rPr lang="en-US" sz="1300" b="1">
                <a:solidFill>
                  <a:srgbClr val="A8C4E8"/>
                </a:solidFill>
                <a:latin typeface="Calibri"/>
                <a:ea typeface="Calibri"/>
              </a:rPr>
              <a:t>07  ·  IBM TECHNOLOGY INTEGRATION</a:t>
            </a:r>
          </a:p>
        </p:txBody>
      </p:sp>
      <p:sp>
        <p:nvSpPr>
          <p:cNvPr id="100052" name="Title"/>
          <p:cNvSpPr txBox="1"/>
          <p:nvPr/>
        </p:nvSpPr>
        <p:spPr>
          <a:xfrm>
            <a:off x="540000" y="540000"/>
            <a:ext cx="10800000" cy="720000"/>
          </a:xfrm>
          <a:prstGeom prst="rect">
            <a:avLst/>
          </a:prstGeom>
          <a:noFill/>
        </p:spPr>
        <p:txBody>
          <a:bodyPr/>
          <a:lstStyle/>
          <a:p>
            <a:r>
              <a:rPr lang="en-US" sz="3200" b="1">
                <a:solidFill>
                  <a:srgbClr val="1B2A4A"/>
                </a:solidFill>
                <a:latin typeface="Calibri"/>
                <a:ea typeface="Calibri"/>
              </a:rPr>
              <a:t>Built With IBM — Honestly Documented</a:t>
            </a:r>
          </a:p>
        </p:txBody>
      </p:sp>
      <p:sp>
        <p:nvSpPr>
          <p:cNvPr id="100053" name="BobBox"/>
          <p:cNvSpPr txBox="1"/>
          <p:nvPr/>
        </p:nvSpPr>
        <p:spPr>
          <a:xfrm>
            <a:off x="432000" y="1440000"/>
            <a:ext cx="5580000" cy="3780000"/>
          </a:xfrm>
          <a:prstGeom prst="rect">
            <a:avLst/>
          </a:prstGeom>
          <a:solidFill>
            <a:srgbClr val="EAF2FB"/>
          </a:solidFill>
        </p:spPr>
        <p:txBody>
          <a:bodyPr/>
          <a:lstStyle/>
          <a:p>
            <a:r>
              <a:rPr lang="en-US" sz="1600" b="0">
                <a:solidFill>
                  <a:srgbClr val="1B2A4A"/>
                </a:solidFill>
                <a:latin typeface="Calibri"/>
                <a:ea typeface="Calibri"/>
              </a:rPr>
              <a:t>IBM BOB</a:t>
            </a:r>
          </a:p>
          <a:p>
            <a:endParaRPr lang="en-US" sz="1600" b="0">
              <a:solidFill>
                <a:srgbClr val="1B2A4A"/>
              </a:solidFill>
              <a:latin typeface="Calibri"/>
              <a:ea typeface="Calibri"/>
            </a:endParaRPr>
          </a:p>
          <a:p>
            <a:r>
              <a:rPr lang="en-US" sz="1600" b="0">
                <a:solidFill>
                  <a:srgbClr val="1B2A4A"/>
                </a:solidFill>
                <a:latin typeface="Calibri"/>
                <a:ea typeface="Calibri"/>
              </a:rPr>
              <a:t>• Used as AI coding assistant throughout the project</a:t>
            </a:r>
          </a:p>
          <a:p>
            <a:r>
              <a:rPr lang="en-US" sz="1600" b="0">
                <a:solidFill>
                  <a:srgbClr val="1B2A4A"/>
                </a:solidFill>
                <a:latin typeface="Calibri"/>
                <a:ea typeface="Calibri"/>
              </a:rPr>
              <a:t>• Backend API design, endpoint logic, AI orchestration</a:t>
            </a:r>
          </a:p>
          <a:p>
            <a:r>
              <a:rPr lang="en-US" sz="1600" b="0">
                <a:solidFill>
                  <a:srgbClr val="1B2A4A"/>
                </a:solidFill>
                <a:latin typeface="Calibri"/>
                <a:ea typeface="Calibri"/>
              </a:rPr>
              <a:t>• Frontend component architecture (React)</a:t>
            </a:r>
          </a:p>
          <a:p>
            <a:r>
              <a:rPr lang="en-US" sz="1600" b="0">
                <a:solidFill>
                  <a:srgbClr val="1B2A4A"/>
                </a:solidFill>
                <a:latin typeface="Calibri"/>
                <a:ea typeface="Calibri"/>
              </a:rPr>
              <a:t>• All four documentation files written with Bob</a:t>
            </a:r>
          </a:p>
          <a:p>
            <a:r>
              <a:rPr lang="en-US" sz="1600" b="0">
                <a:solidFill>
                  <a:srgbClr val="1B2A4A"/>
                </a:solidFill>
                <a:latin typeface="Calibri"/>
                <a:ea typeface="Calibri"/>
              </a:rPr>
              <a:t>• This presentation created with Bob</a:t>
            </a:r>
          </a:p>
          <a:p>
            <a:endParaRPr lang="en-US" sz="1600" b="0">
              <a:solidFill>
                <a:srgbClr val="1B2A4A"/>
              </a:solidFill>
              <a:latin typeface="Calibri"/>
              <a:ea typeface="Calibri"/>
            </a:endParaRPr>
          </a:p>
          <a:p>
            <a:r>
              <a:rPr lang="en-US" sz="1600" b="0">
                <a:solidFill>
                  <a:srgbClr val="1B2A4A"/>
                </a:solidFill>
                <a:latin typeface="Calibri"/>
                <a:ea typeface="Calibri"/>
              </a:rPr>
              <a:t>IBM Bob was the primary development accelerator for the entire project.</a:t>
            </a:r>
          </a:p>
        </p:txBody>
      </p:sp>
      <p:sp>
        <p:nvSpPr>
          <p:cNvPr id="100054" name="WatsonxBox"/>
          <p:cNvSpPr txBox="1"/>
          <p:nvPr/>
        </p:nvSpPr>
        <p:spPr>
          <a:xfrm>
            <a:off x="6120000" y="1440000"/>
            <a:ext cx="5580000" cy="3780000"/>
          </a:xfrm>
          <a:prstGeom prst="rect">
            <a:avLst/>
          </a:prstGeom>
          <a:solidFill>
            <a:srgbClr val="E8F5FF"/>
          </a:solidFill>
        </p:spPr>
        <p:txBody>
          <a:bodyPr/>
          <a:lstStyle/>
          <a:p>
            <a:r>
              <a:rPr lang="en-US" sz="1500" b="0">
                <a:solidFill>
                  <a:srgbClr val="1B2A4A"/>
                </a:solidFill>
                <a:latin typeface="Calibri"/>
                <a:ea typeface="Calibri"/>
              </a:rPr>
              <a:t>IBM WATSONX.AI</a:t>
            </a:r>
          </a:p>
          <a:p>
            <a:r>
              <a:rPr lang="en-US" sz="1500" b="0">
                <a:solidFill>
                  <a:srgbClr val="1B2A4A"/>
                </a:solidFill>
                <a:latin typeface="Calibri"/>
                <a:ea typeface="Calibri"/>
              </a:rPr>
              <a:t>Model: ibm/granite-3-8b-instruct</a:t>
            </a:r>
          </a:p>
          <a:p>
            <a:endParaRPr lang="en-US" sz="1500" b="0">
              <a:solidFill>
                <a:srgbClr val="1B2A4A"/>
              </a:solidFill>
              <a:latin typeface="Calibri"/>
              <a:ea typeface="Calibri"/>
            </a:endParaRPr>
          </a:p>
          <a:p>
            <a:r>
              <a:rPr lang="en-US" sz="1500" b="0">
                <a:solidFill>
                  <a:srgbClr val="1B2A4A"/>
                </a:solidFill>
                <a:latin typeface="Calibri"/>
                <a:ea typeface="Calibri"/>
              </a:rPr>
              <a:t>Integration via ibm-watsonx-ai Python SDK</a:t>
            </a:r>
          </a:p>
          <a:p>
            <a:r>
              <a:rPr lang="en-US" sz="1500" b="0">
                <a:solidFill>
                  <a:srgbClr val="1B2A4A"/>
                </a:solidFill>
                <a:latin typeface="Calibri"/>
                <a:ea typeface="Calibri"/>
              </a:rPr>
              <a:t>API: ModelInference.chat()</a:t>
            </a:r>
          </a:p>
          <a:p>
            <a:r>
              <a:rPr lang="en-US" sz="1500" b="0">
                <a:solidFill>
                  <a:srgbClr val="1B2A4A"/>
                </a:solidFill>
                <a:latin typeface="Calibri"/>
                <a:ea typeface="Calibri"/>
              </a:rPr>
              <a:t>Params: max_new_tokens=600, temperature=0.2</a:t>
            </a:r>
          </a:p>
          <a:p>
            <a:endParaRPr lang="en-US" sz="1500" b="0">
              <a:solidFill>
                <a:srgbClr val="1B2A4A"/>
              </a:solidFill>
              <a:latin typeface="Calibri"/>
              <a:ea typeface="Calibri"/>
            </a:endParaRPr>
          </a:p>
          <a:p>
            <a:r>
              <a:rPr lang="en-US" sz="1500" b="0">
                <a:solidFill>
                  <a:srgbClr val="1B2A4A"/>
                </a:solidFill>
                <a:latin typeface="Calibri"/>
                <a:ea typeface="Calibri"/>
              </a:rPr>
              <a:t>How it works:</a:t>
            </a:r>
          </a:p>
          <a:p>
            <a:r>
              <a:rPr lang="en-US" sz="1500" b="0">
                <a:solidFill>
                  <a:srgbClr val="1B2A4A"/>
                </a:solidFill>
                <a:latin typeface="Calibri"/>
                <a:ea typeface="Calibri"/>
              </a:rPr>
              <a:t>1. Backend computes structured facts first</a:t>
            </a:r>
          </a:p>
          <a:p>
            <a:r>
              <a:rPr lang="en-US" sz="1500" b="0">
                <a:solidFill>
                  <a:srgbClr val="1B2A4A"/>
                </a:solidFill>
                <a:latin typeface="Calibri"/>
                <a:ea typeface="Calibri"/>
              </a:rPr>
              <a:t>2. Facts serialised as JSON context</a:t>
            </a:r>
          </a:p>
          <a:p>
            <a:r>
              <a:rPr lang="en-US" sz="1500" b="0">
                <a:solidFill>
                  <a:srgbClr val="1B2A4A"/>
                </a:solidFill>
                <a:latin typeface="Calibri"/>
                <a:ea typeface="Calibri"/>
              </a:rPr>
              <a:t>3. System prompt restricts model to provided data only</a:t>
            </a:r>
          </a:p>
          <a:p>
            <a:r>
              <a:rPr lang="en-US" sz="1500" b="0">
                <a:solidFill>
                  <a:srgbClr val="1B2A4A"/>
                </a:solidFill>
                <a:latin typeface="Calibri"/>
                <a:ea typeface="Calibri"/>
              </a:rPr>
              <a:t>4. Granite narrates — never invents</a:t>
            </a:r>
          </a:p>
          <a:p>
            <a:endParaRPr lang="en-US" sz="1500" b="0">
              <a:solidFill>
                <a:srgbClr val="1B2A4A"/>
              </a:solidFill>
              <a:latin typeface="Calibri"/>
              <a:ea typeface="Calibri"/>
            </a:endParaRPr>
          </a:p>
          <a:p>
            <a:r>
              <a:rPr lang="en-US" sz="1500" b="0">
                <a:solidFill>
                  <a:srgbClr val="1B2A4A"/>
                </a:solidFill>
                <a:latin typeface="Calibri"/>
                <a:ea typeface="Calibri"/>
              </a:rPr>
              <a:t>Fallback mode (no credentials needed):</a:t>
            </a:r>
          </a:p>
          <a:p>
            <a:r>
              <a:rPr lang="en-US" sz="1500" b="0">
                <a:solidFill>
                  <a:srgbClr val="1B2A4A"/>
                </a:solidFill>
                <a:latin typeface="Calibri"/>
                <a:ea typeface="Calibri"/>
              </a:rPr>
              <a:t>• FallbackProvider returns structured facts + config message</a:t>
            </a:r>
          </a:p>
          <a:p>
            <a:r>
              <a:rPr lang="en-US" sz="1500" b="0">
                <a:solidFill>
                  <a:srgbClr val="1B2A4A"/>
                </a:solidFill>
                <a:latin typeface="Calibri"/>
                <a:ea typeface="Calibri"/>
              </a:rPr>
              <a:t>• Full application works without watsonx credentials</a:t>
            </a:r>
          </a:p>
          <a:p>
            <a:r>
              <a:rPr lang="en-US" sz="1500" b="0">
                <a:solidFill>
                  <a:srgbClr val="1B2A4A"/>
                </a:solidFill>
                <a:latin typeface="Calibri"/>
                <a:ea typeface="Calibri"/>
              </a:rPr>
              <a:t>• Live AI mode activated by setting 3 env vars</a:t>
            </a:r>
          </a:p>
        </p:txBody>
      </p:sp>
      <p:sp>
        <p:nvSpPr>
          <p:cNvPr id="100055" name="EnvVars"/>
          <p:cNvSpPr txBox="1"/>
          <p:nvPr/>
        </p:nvSpPr>
        <p:spPr>
          <a:xfrm>
            <a:off x="432000" y="5400000"/>
            <a:ext cx="11340000" cy="540000"/>
          </a:xfrm>
          <a:prstGeom prst="rect">
            <a:avLst/>
          </a:prstGeom>
          <a:solidFill>
            <a:srgbClr val="F7F7F7"/>
          </a:solidFill>
        </p:spPr>
        <p:txBody>
          <a:bodyPr/>
          <a:lstStyle/>
          <a:p>
            <a:r>
              <a:rPr lang="en-US" sz="1400" b="0">
                <a:solidFill>
                  <a:srgbClr val="555555"/>
                </a:solidFill>
                <a:latin typeface="Calibri"/>
                <a:ea typeface="Calibri"/>
              </a:rPr>
              <a:t>To enable live AI:   WATSONX_API_KEY  +  WATSONX_PROJECT_ID  +  WATSONX_URL  →  set in src/.env (never committed to git)</a:t>
            </a:r>
          </a:p>
        </p:txBody>
      </p:sp>
      <p:sp>
        <p:nvSpPr>
          <p:cNvPr id="100056" name="BottomBar"/>
          <p:cNvSpPr txBox="1"/>
          <p:nvPr/>
        </p:nvSpPr>
        <p:spPr>
          <a:xfrm>
            <a:off x="0" y="6768000"/>
            <a:ext cx="12193200" cy="72000"/>
          </a:xfrm>
          <a:prstGeom prst="rect">
            <a:avLst/>
          </a:prstGeom>
          <a:solidFill>
            <a:srgbClr val="3B7DD8"/>
          </a:solidFill>
        </p:spPr>
        <p:txBody>
          <a:bodyPr/>
          <a:lstStyle/>
          <a:p>
            <a:endParaRPr lang="en-US" sz="800">
              <a:solidFill>
                <a:srgbClr val="3B7DD8"/>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57" name="TopBar"/>
          <p:cNvSpPr txBox="1"/>
          <p:nvPr/>
        </p:nvSpPr>
        <p:spPr>
          <a:xfrm>
            <a:off x="0" y="0"/>
            <a:ext cx="12193200" cy="432000"/>
          </a:xfrm>
          <a:prstGeom prst="rect">
            <a:avLst/>
          </a:prstGeom>
          <a:solidFill>
            <a:srgbClr val="1B2A4A"/>
          </a:solidFill>
        </p:spPr>
        <p:txBody>
          <a:bodyPr/>
          <a:lstStyle/>
          <a:p>
            <a:endParaRPr lang="en-US" sz="800">
              <a:solidFill>
                <a:srgbClr val="1B2A4A"/>
              </a:solidFill>
            </a:endParaRPr>
          </a:p>
        </p:txBody>
      </p:sp>
      <p:sp>
        <p:nvSpPr>
          <p:cNvPr id="100058" name="SlideLabel"/>
          <p:cNvSpPr txBox="1"/>
          <p:nvPr/>
        </p:nvSpPr>
        <p:spPr>
          <a:xfrm>
            <a:off x="540000" y="72000"/>
            <a:ext cx="9000000" cy="288000"/>
          </a:xfrm>
          <a:prstGeom prst="rect">
            <a:avLst/>
          </a:prstGeom>
          <a:noFill/>
        </p:spPr>
        <p:txBody>
          <a:bodyPr/>
          <a:lstStyle/>
          <a:p>
            <a:r>
              <a:rPr lang="en-US" sz="1300" b="1">
                <a:solidFill>
                  <a:srgbClr val="A8C4E8"/>
                </a:solidFill>
                <a:latin typeface="Calibri"/>
                <a:ea typeface="Calibri"/>
              </a:rPr>
              <a:t>08  ·  IMPACT + LIMITATIONS</a:t>
            </a:r>
          </a:p>
        </p:txBody>
      </p:sp>
      <p:sp>
        <p:nvSpPr>
          <p:cNvPr id="100059" name="Title"/>
          <p:cNvSpPr txBox="1"/>
          <p:nvPr/>
        </p:nvSpPr>
        <p:spPr>
          <a:xfrm>
            <a:off x="540000" y="540000"/>
            <a:ext cx="10800000" cy="720000"/>
          </a:xfrm>
          <a:prstGeom prst="rect">
            <a:avLst/>
          </a:prstGeom>
          <a:noFill/>
        </p:spPr>
        <p:txBody>
          <a:bodyPr/>
          <a:lstStyle/>
          <a:p>
            <a:r>
              <a:rPr lang="en-US" sz="3200" b="1">
                <a:solidFill>
                  <a:srgbClr val="1B2A4A"/>
                </a:solidFill>
                <a:latin typeface="Calibri"/>
                <a:ea typeface="Calibri"/>
              </a:rPr>
              <a:t>Business Value and Honest Limitations</a:t>
            </a:r>
          </a:p>
        </p:txBody>
      </p:sp>
      <p:sp>
        <p:nvSpPr>
          <p:cNvPr id="100060" name="ImpactBox"/>
          <p:cNvSpPr txBox="1"/>
          <p:nvPr/>
        </p:nvSpPr>
        <p:spPr>
          <a:xfrm>
            <a:off x="432000" y="1440000"/>
            <a:ext cx="5580000" cy="3960000"/>
          </a:xfrm>
          <a:prstGeom prst="rect">
            <a:avLst/>
          </a:prstGeom>
          <a:solidFill>
            <a:srgbClr val="E8F5E9"/>
          </a:solidFill>
        </p:spPr>
        <p:txBody>
          <a:bodyPr/>
          <a:lstStyle/>
          <a:p>
            <a:r>
              <a:rPr lang="en-US" sz="1600" b="0">
                <a:solidFill>
                  <a:srgbClr val="1B2A4A"/>
                </a:solidFill>
                <a:latin typeface="Calibri"/>
                <a:ea typeface="Calibri"/>
              </a:rPr>
              <a:t>BUSINESS IMPACT</a:t>
            </a:r>
          </a:p>
          <a:p>
            <a:endParaRPr lang="en-US" sz="1600" b="0">
              <a:solidFill>
                <a:srgbClr val="1B2A4A"/>
              </a:solidFill>
              <a:latin typeface="Calibri"/>
              <a:ea typeface="Calibri"/>
            </a:endParaRPr>
          </a:p>
          <a:p>
            <a:r>
              <a:rPr lang="en-US" sz="1600" b="0">
                <a:solidFill>
                  <a:srgbClr val="1B2A4A"/>
                </a:solidFill>
                <a:latin typeface="Calibri"/>
                <a:ea typeface="Calibri"/>
              </a:rPr>
              <a:t>⏱  30–60 min manual process → seconds</a:t>
            </a:r>
          </a:p>
          <a:p>
            <a:endParaRPr lang="en-US" sz="1600" b="0">
              <a:solidFill>
                <a:srgbClr val="1B2A4A"/>
              </a:solidFill>
              <a:latin typeface="Calibri"/>
              <a:ea typeface="Calibri"/>
            </a:endParaRPr>
          </a:p>
          <a:p>
            <a:r>
              <a:rPr lang="en-US" sz="1600" b="0">
                <a:solidFill>
                  <a:srgbClr val="1B2A4A"/>
                </a:solidFill>
                <a:latin typeface="Calibri"/>
                <a:ea typeface="Calibri"/>
              </a:rPr>
              <a:t>❄️  Cold-chain shipments flagged automatically before decisions are delayed</a:t>
            </a:r>
          </a:p>
          <a:p>
            <a:endParaRPr lang="en-US" sz="1600" b="0">
              <a:solidFill>
                <a:srgbClr val="1B2A4A"/>
              </a:solidFill>
              <a:latin typeface="Calibri"/>
              <a:ea typeface="Calibri"/>
            </a:endParaRPr>
          </a:p>
          <a:p>
            <a:r>
              <a:rPr lang="en-US" sz="1600" b="0">
                <a:solidFill>
                  <a:srgbClr val="1B2A4A"/>
                </a:solidFill>
                <a:latin typeface="Calibri"/>
                <a:ea typeface="Calibri"/>
              </a:rPr>
              <a:t>💰  $520,000 vaccine cargo identified as at-risk in one click</a:t>
            </a:r>
          </a:p>
          <a:p>
            <a:endParaRPr lang="en-US" sz="1600" b="0">
              <a:solidFill>
                <a:srgbClr val="1B2A4A"/>
              </a:solidFill>
              <a:latin typeface="Calibri"/>
              <a:ea typeface="Calibri"/>
            </a:endParaRPr>
          </a:p>
          <a:p>
            <a:r>
              <a:rPr lang="en-US" sz="1600" b="0">
                <a:solidFill>
                  <a:srgbClr val="1B2A4A"/>
                </a:solidFill>
                <a:latin typeface="Calibri"/>
                <a:ea typeface="Calibri"/>
              </a:rPr>
              <a:t>🚛  Optimal fleet asset (TRUCK-017) surfaced instantly — already on-site in Rotterdam</a:t>
            </a:r>
          </a:p>
          <a:p>
            <a:endParaRPr lang="en-US" sz="1600" b="0">
              <a:solidFill>
                <a:srgbClr val="1B2A4A"/>
              </a:solidFill>
              <a:latin typeface="Calibri"/>
              <a:ea typeface="Calibri"/>
            </a:endParaRPr>
          </a:p>
          <a:p>
            <a:r>
              <a:rPr lang="en-US" sz="1600" b="0">
                <a:solidFill>
                  <a:srgbClr val="1B2A4A"/>
                </a:solidFill>
                <a:latin typeface="Calibri"/>
                <a:ea typeface="Calibri"/>
              </a:rPr>
              <a:t>🤖  Natural-language Q&amp;A removes the need to learn API syntax or navigate multiple dashboards</a:t>
            </a:r>
          </a:p>
        </p:txBody>
      </p:sp>
      <p:sp>
        <p:nvSpPr>
          <p:cNvPr id="100061" name="LimitBox"/>
          <p:cNvSpPr txBox="1"/>
          <p:nvPr/>
        </p:nvSpPr>
        <p:spPr>
          <a:xfrm>
            <a:off x="6120000" y="1440000"/>
            <a:ext cx="5580000" cy="3960000"/>
          </a:xfrm>
          <a:prstGeom prst="rect">
            <a:avLst/>
          </a:prstGeom>
          <a:solidFill>
            <a:srgbClr val="FFF4F0"/>
          </a:solidFill>
        </p:spPr>
        <p:txBody>
          <a:bodyPr/>
          <a:lstStyle/>
          <a:p>
            <a:r>
              <a:rPr lang="en-US" sz="1600" b="0">
                <a:solidFill>
                  <a:srgbClr val="1B2A4A"/>
                </a:solidFill>
                <a:latin typeface="Calibri"/>
                <a:ea typeface="Calibri"/>
              </a:rPr>
              <a:t>KNOWN LIMITATIONS</a:t>
            </a:r>
          </a:p>
          <a:p>
            <a:endParaRPr lang="en-US" sz="1600" b="0">
              <a:solidFill>
                <a:srgbClr val="1B2A4A"/>
              </a:solidFill>
              <a:latin typeface="Calibri"/>
              <a:ea typeface="Calibri"/>
            </a:endParaRPr>
          </a:p>
          <a:p>
            <a:r>
              <a:rPr lang="en-US" sz="1600" b="0">
                <a:solidFill>
                  <a:srgbClr val="1B2A4A"/>
                </a:solidFill>
                <a:latin typeface="Calibri"/>
                <a:ea typeface="Calibri"/>
              </a:rPr>
              <a:t>• Data is hardcoded in-memory — not a live logistics feed</a:t>
            </a:r>
          </a:p>
          <a:p>
            <a:endParaRPr lang="en-US" sz="1600" b="0">
              <a:solidFill>
                <a:srgbClr val="1B2A4A"/>
              </a:solidFill>
              <a:latin typeface="Calibri"/>
              <a:ea typeface="Calibri"/>
            </a:endParaRPr>
          </a:p>
          <a:p>
            <a:r>
              <a:rPr lang="en-US" sz="1600" b="0">
                <a:solidFill>
                  <a:srgbClr val="1B2A4A"/>
                </a:solidFill>
                <a:latin typeface="Calibri"/>
                <a:ea typeface="Calibri"/>
              </a:rPr>
              <a:t>• Cold-chain temperature uses a fixed demo reading (7.5 °C) rather than a live IoT sensor</a:t>
            </a:r>
          </a:p>
          <a:p>
            <a:endParaRPr lang="en-US" sz="1600" b="0">
              <a:solidFill>
                <a:srgbClr val="1B2A4A"/>
              </a:solidFill>
              <a:latin typeface="Calibri"/>
              <a:ea typeface="Calibri"/>
            </a:endParaRPr>
          </a:p>
          <a:p>
            <a:r>
              <a:rPr lang="en-US" sz="1600" b="0">
                <a:solidFill>
                  <a:srgbClr val="1B2A4A"/>
                </a:solidFill>
                <a:latin typeface="Calibri"/>
                <a:ea typeface="Calibri"/>
              </a:rPr>
              <a:t>• What-If panel fixed to Rotterdam strike; assistant supports any disruption</a:t>
            </a:r>
          </a:p>
          <a:p>
            <a:endParaRPr lang="en-US" sz="1600" b="0">
              <a:solidFill>
                <a:srgbClr val="1B2A4A"/>
              </a:solidFill>
              <a:latin typeface="Calibri"/>
              <a:ea typeface="Calibri"/>
            </a:endParaRPr>
          </a:p>
          <a:p>
            <a:r>
              <a:rPr lang="en-US" sz="1600" b="0">
                <a:solidFill>
                  <a:srgbClr val="1B2A4A"/>
                </a:solidFill>
                <a:latin typeface="Calibri"/>
                <a:ea typeface="Calibri"/>
              </a:rPr>
              <a:t>• No API authentication (hackathon scope)</a:t>
            </a:r>
          </a:p>
          <a:p>
            <a:endParaRPr lang="en-US" sz="1600" b="0">
              <a:solidFill>
                <a:srgbClr val="1B2A4A"/>
              </a:solidFill>
              <a:latin typeface="Calibri"/>
              <a:ea typeface="Calibri"/>
            </a:endParaRPr>
          </a:p>
          <a:p>
            <a:r>
              <a:rPr lang="en-US" sz="1600" b="0">
                <a:solidFill>
                  <a:srgbClr val="1B2A4A"/>
                </a:solidFill>
                <a:latin typeface="Calibri"/>
                <a:ea typeface="Calibri"/>
              </a:rPr>
              <a:t>• ibm-watsonx-ai SDK must be installed separately; app fully functional without it</a:t>
            </a:r>
          </a:p>
        </p:txBody>
      </p:sp>
      <p:sp>
        <p:nvSpPr>
          <p:cNvPr id="100062" name="ProudOf"/>
          <p:cNvSpPr txBox="1"/>
          <p:nvPr/>
        </p:nvSpPr>
        <p:spPr>
          <a:xfrm>
            <a:off x="432000" y="5580000"/>
            <a:ext cx="11340000" cy="1008000"/>
          </a:xfrm>
          <a:prstGeom prst="rect">
            <a:avLst/>
          </a:prstGeom>
          <a:solidFill>
            <a:srgbClr val="1B2A4A"/>
          </a:solidFill>
        </p:spPr>
        <p:txBody>
          <a:bodyPr/>
          <a:lstStyle/>
          <a:p>
            <a:r>
              <a:rPr lang="en-US" sz="1600" b="0">
                <a:solidFill>
                  <a:srgbClr val="FFFFFF"/>
                </a:solidFill>
                <a:latin typeface="Calibri"/>
                <a:ea typeface="Calibri"/>
              </a:rPr>
              <a:t>WHAT WE ARE MOST PROUD OF</a:t>
            </a:r>
          </a:p>
          <a:p>
            <a:endParaRPr lang="en-US" sz="1600" b="0">
              <a:solidFill>
                <a:srgbClr val="FFFFFF"/>
              </a:solidFill>
              <a:latin typeface="Calibri"/>
              <a:ea typeface="Calibri"/>
            </a:endParaRPr>
          </a:p>
          <a:p>
            <a:r>
              <a:rPr lang="en-US" sz="1600" b="0">
                <a:solidFill>
                  <a:srgbClr val="FFFFFF"/>
                </a:solidFill>
                <a:latin typeface="Calibri"/>
                <a:ea typeface="Calibri"/>
              </a:rPr>
              <a:t>The grounded AI assistant architecture: deterministic backend first, AI narrates. The model cannot hallucinate — every value it states was already computed. The fallback mode means the entire system works without watsonx credentials. This pattern makes the assistant both trustworthy and demo-resilient.</a:t>
            </a:r>
          </a:p>
        </p:txBody>
      </p:sp>
      <p:sp>
        <p:nvSpPr>
          <p:cNvPr id="100063" name="BottomBar"/>
          <p:cNvSpPr txBox="1"/>
          <p:nvPr/>
        </p:nvSpPr>
        <p:spPr>
          <a:xfrm>
            <a:off x="0" y="6768000"/>
            <a:ext cx="12193200" cy="72000"/>
          </a:xfrm>
          <a:prstGeom prst="rect">
            <a:avLst/>
          </a:prstGeom>
          <a:solidFill>
            <a:srgbClr val="3B7DD8"/>
          </a:solidFill>
        </p:spPr>
        <p:txBody>
          <a:bodyPr/>
          <a:lstStyle/>
          <a:p>
            <a:endParaRPr lang="en-US" sz="800">
              <a:solidFill>
                <a:srgbClr val="3B7DD8"/>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1531</Words>
  <Application>Microsoft Office PowerPoint</Application>
  <PresentationFormat>Widescreen</PresentationFormat>
  <Paragraphs>203</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OfficeCLI</dc:creator>
  <cp:lastModifiedBy>KHUSHI GOL</cp:lastModifiedBy>
  <cp:revision>1</cp:revision>
  <dcterms:created xsi:type="dcterms:W3CDTF">2026-09-14T08:48:31Z</dcterms:created>
  <dcterms:modified xsi:type="dcterms:W3CDTF">2026-09-14T08:52:33Z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ceCLI.Version">
    <vt:lpwstr>1.0.149</vt:lpwstr>
  </property>
  <property fmtid="{D5CDD505-2E9C-101B-9397-08002B2CF9AE}" pid="3" name="OfficeCLI.LastModified">
    <vt:lpwstr>2026-09-14T08:50:31Z</vt:lpwstr>
  </property>
</Properties>
</file>